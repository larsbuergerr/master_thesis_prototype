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279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80" r:id="rId20"/>
    <p:sldId id="273" r:id="rId21"/>
    <p:sldId id="274" r:id="rId22"/>
    <p:sldId id="275" r:id="rId23"/>
    <p:sldId id="276" r:id="rId24"/>
    <p:sldId id="277" r:id="rId25"/>
    <p:sldId id="278" r:id="rId2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D47"/>
    <a:srgbClr val="F2F5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143" dt="2026-09-17T11:51:37.039"/>
    <p1510:client id="{06807850-2603-09DA-B2F6-98BCF0C0CDF5}" v="91" dt="2026-09-17T09:18:10.511"/>
    <p1510:client id="{D30067CA-A2CF-4FBD-A9BB-F6A99E10D24D}" v="355" dt="2026-09-16T13:40:03.782"/>
    <p1510:client id="{D322D37B-6CF4-8D15-ADE3-F71DE017B4A0}" v="172" dt="2026-09-17T11:49:20.750"/>
    <p1510:client id="{D5B09B42-1D8A-01F3-0F50-ABC6221C45FF}" v="28" dt="2026-09-18T10:01:44.5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38" d="100"/>
          <a:sy n="138" d="100"/>
        </p:scale>
        <p:origin x="150" y="4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0053F1-A45E-43B6-9958-CFA222CA2442}" type="datetimeFigureOut">
              <a:rPr lang="de-DE" smtClean="0"/>
              <a:t>18.09.2026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500FBF-B6A2-438D-BF2F-9887B231C23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933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bg>
      <p:bgPr>
        <a:solidFill>
          <a:srgbClr val="002D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8B1CF1-BF60-8041-CFF0-1B715D1AD6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bg2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6E2D915-E0FD-BA99-547A-786E26DD23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C617124-5F5D-D106-03BE-C40D81B11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2F5F6"/>
                </a:solidFill>
              </a:defRPr>
            </a:lvl1pPr>
          </a:lstStyle>
          <a:p>
            <a:fld id="{60EECD7E-DE59-4057-BCF7-765169767775}" type="datetime4">
              <a:rPr lang="de-DE" smtClean="0"/>
              <a:t>18. September 2026</a:t>
            </a:fld>
            <a:endParaRPr lang="de-DE" dirty="0">
              <a:solidFill>
                <a:srgbClr val="F2F5F6"/>
              </a:solidFill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C37DF51-DD99-02C6-04EA-24DC12E03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pt-BR" dirty="0"/>
              <a:t>S E I T E N B A U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72481BA-333C-2D79-DF1E-3674C3E28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3E09B90-955E-4D15-9590-89161BB2646F}" type="slidenum">
              <a:rPr lang="de-DE" smtClean="0"/>
              <a:pPr/>
              <a:t>‹Nr.›</a:t>
            </a:fld>
            <a:endParaRPr lang="de-DE" dirty="0">
              <a:solidFill>
                <a:schemeClr val="bg2"/>
              </a:solidFill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F9BCDBC0-0399-2ED0-5487-2180CF543B72}"/>
              </a:ext>
            </a:extLst>
          </p:cNvPr>
          <p:cNvSpPr/>
          <p:nvPr userDrawn="1"/>
        </p:nvSpPr>
        <p:spPr>
          <a:xfrm>
            <a:off x="11619411" y="0"/>
            <a:ext cx="572589" cy="6858000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23375953"/>
      </p:ext>
    </p:extLst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05A962-B4D4-23AD-2C72-9CED6D167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3299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80A274F-67D2-1873-B0D1-3B025A31CD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DB4DE339-C251-D196-87EC-3878529FD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BBF7C6C-3DD5-48C5-8D68-F70B8097EE6D}" type="datetime4">
              <a:rPr lang="de-DE" smtClean="0"/>
              <a:pPr/>
              <a:t>18. September 2026</a:t>
            </a:fld>
            <a:endParaRPr lang="de-DE" dirty="0">
              <a:solidFill>
                <a:schemeClr val="tx2"/>
              </a:solidFill>
            </a:endParaRP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F77A8190-7B04-8FC6-DCA4-24957D7C4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pt-BR"/>
              <a:t>S E I T E N B A U</a:t>
            </a:r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57225FF1-DCAA-21BF-246B-EAC9ADEB2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E09B90-955E-4D15-9590-89161BB2646F}" type="slidenum">
              <a:rPr lang="de-DE" smtClean="0"/>
              <a:pPr/>
              <a:t>‹Nr.›</a:t>
            </a:fld>
            <a:endParaRPr lang="de-DE" dirty="0">
              <a:solidFill>
                <a:schemeClr val="tx2"/>
              </a:solidFill>
            </a:endParaRP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D4BDB61D-9536-4200-DE75-2A2D88C62A44}"/>
              </a:ext>
            </a:extLst>
          </p:cNvPr>
          <p:cNvSpPr/>
          <p:nvPr userDrawn="1"/>
        </p:nvSpPr>
        <p:spPr>
          <a:xfrm>
            <a:off x="0" y="423769"/>
            <a:ext cx="838200" cy="36512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B004D79E-2AE6-25FF-4830-A0FD6BC6981F}"/>
              </a:ext>
            </a:extLst>
          </p:cNvPr>
          <p:cNvSpPr/>
          <p:nvPr userDrawn="1"/>
        </p:nvSpPr>
        <p:spPr>
          <a:xfrm>
            <a:off x="0" y="473869"/>
            <a:ext cx="838200" cy="3150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10C726B9-2312-A548-1204-BD39B591096F}"/>
              </a:ext>
            </a:extLst>
          </p:cNvPr>
          <p:cNvSpPr/>
          <p:nvPr userDrawn="1"/>
        </p:nvSpPr>
        <p:spPr>
          <a:xfrm>
            <a:off x="12115800" y="0"/>
            <a:ext cx="76200" cy="6858000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722431"/>
      </p:ext>
    </p:extLst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F80B8F-E232-1382-6CB1-F60B01B4C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E447E77-D27D-4846-694C-873A7618C7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3340E20-5F66-F214-7191-B90A5A1FA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7CC9D-1472-441A-A10A-A98D61DEF743}" type="datetime4">
              <a:rPr lang="de-DE" smtClean="0"/>
              <a:t>18. September 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0169AAA-801F-43C0-68D1-F365DFCDF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 E I T E N B A U</a:t>
            </a:r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C8B651A-E8C3-B12C-92F6-5AAFF3C10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09B90-955E-4D15-9590-89161BB2646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6562467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11C8A8-9988-7331-2BCA-4F9D076BB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A3C4576-431F-0D6E-1B07-D65FA8C11C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487627C-188A-21F2-0ADA-82C0C135DE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40B6397-D143-6E42-C1C6-10C56983D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4ADE6-13AC-4938-B638-AE7305C3F6E4}" type="datetime4">
              <a:rPr lang="de-DE" smtClean="0"/>
              <a:t>18. September 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8F957B4-5D8D-DE3A-0A13-CA52C34B1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 E I T E N B A U</a:t>
            </a:r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C6595CC-FCC8-C1DD-48C3-031D14837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09B90-955E-4D15-9590-89161BB2646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39021725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06288B-A491-9354-479D-B3FBE3968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16ECBD8-865E-7892-AA77-62C0929DE1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612FC15-EA22-D869-9EEF-577AD5886B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E1E8921-81CF-9196-9726-082EE310A1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6FD0B72A-D242-8AED-77A2-91ADADD7ED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0CA7C4B-4592-6A8F-FFD5-D360E60AF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2D6AC-80CB-4FF9-A9B2-57978C5FB859}" type="datetime4">
              <a:rPr lang="de-DE" smtClean="0"/>
              <a:t>18. September 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A689B408-6DE8-7439-8C24-82A9036E4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 E I T E N B A U</a:t>
            </a:r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0054CFC7-09E1-385C-5747-662F1F71C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09B90-955E-4D15-9590-89161BB2646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85501662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7E8134-0E71-ED2E-621B-943AD5AC3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3C42E16-755B-1D59-808F-8E100111C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8B17F-D6F9-4A89-B8FD-C2DDD10C568C}" type="datetime4">
              <a:rPr lang="de-DE" smtClean="0"/>
              <a:t>18. September 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293B116-939A-7553-924A-A79C6BB53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 E I T E N B A U</a:t>
            </a:r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85BDC15-583A-BA9D-25E8-32F009634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09B90-955E-4D15-9590-89161BB2646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26181444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BE41200-7723-4D48-D421-2711E82E1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E1C21-0804-431B-A25D-E5CF9EBD26B3}" type="datetime4">
              <a:rPr lang="de-DE" smtClean="0"/>
              <a:t>18. September 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EDB0220-AC81-BD33-DBAE-D721BAF6D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 E I T E N B A U</a:t>
            </a:r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6DF9AAC-3CBE-6737-5BCC-CAC3F707F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09B90-955E-4D15-9590-89161BB2646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89483795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2BA0D6-AD65-60BE-2E66-DEEEB022D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9ED4A03-8259-3B29-5CE4-879F0CAE83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64DAC01-EF89-41E2-F506-7EF0B02AA6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ECBE762-B2BE-0190-2A6B-D373D8484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A5167-E0F7-4C88-AAFB-81D773EB5272}" type="datetime4">
              <a:rPr lang="de-DE" smtClean="0"/>
              <a:t>18. September 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7A14649-59C3-3292-6E18-0E203C0FA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 E I T E N B A U</a:t>
            </a:r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C5669AD-9EDD-E737-6EDE-D40346587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09B90-955E-4D15-9590-89161BB2646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31463011"/>
      </p:ext>
    </p:extLst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7FA496-A5B5-DED8-A61E-52E725D5A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18EAD0B2-43D9-91F1-5BC0-48BBFAD6E7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A69F0A5-55F8-1E98-301D-B4F04BA59E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47B2306-12ED-0C09-9181-7D112D6D4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60BD7-7FB0-469B-A126-F55CAC66EF39}" type="datetime4">
              <a:rPr lang="de-DE" smtClean="0"/>
              <a:t>18. September 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7526738-7B49-0868-DF22-265253397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 E I T E N B A U</a:t>
            </a:r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F0E17FA-4429-1C4A-6BAC-F906CBFA9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09B90-955E-4D15-9590-89161BB2646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3487391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CA51ED-0A3C-B8FB-A7C4-F0BD49ACA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3E304BB-04EE-129F-064D-79C77E3A20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9D2CEAF-459D-69AD-50E3-4B8264B1B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A3236-6C68-45D3-87EB-27F712ABFD88}" type="datetime4">
              <a:rPr lang="de-DE" smtClean="0"/>
              <a:t>18. September 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7D75E38-C5F7-7BB7-E20E-7BAEA05A5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 E I T E N B A U</a:t>
            </a:r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EEC8884-5024-7959-0EB3-7486A3D86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09B90-955E-4D15-9590-89161BB2646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66707906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F44E8F70-4B83-4E20-FB05-E320893BB1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9602CB3-3254-EDCF-F938-892E861DF7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6B9F998-C53E-498F-E2E1-45EAA2F07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07A47-0289-4103-A222-78326E8E08BA}" type="datetime4">
              <a:rPr lang="de-DE" smtClean="0"/>
              <a:t>18. September 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13CBF1F-A719-C819-DC0F-906F7D454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 E I T E N B A U</a:t>
            </a:r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0060704-8D54-4C86-EC79-3DDD0A075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09B90-955E-4D15-9590-89161BB2646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78922772"/>
      </p:ext>
    </p:extLst>
  </p:cSld>
  <p:clrMapOvr>
    <a:masterClrMapping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11DED24-D0EF-89A7-FE64-74052752E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7E9C63B-3767-8381-C035-492B5C77D1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DF81A43-357D-8676-CC11-9E29D61ED0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58E0A9-E3C2-4B34-A072-C1D054743DB5}" type="datetime4">
              <a:rPr lang="de-DE" smtClean="0"/>
              <a:t>18. September 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ECF8C87-C687-C0EA-9803-0AA2DE5904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pt-BR"/>
              <a:t>S E I T E N B A U</a:t>
            </a:r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8EEA584-57EF-6C64-428B-6649203C18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E09B90-955E-4D15-9590-89161BB2646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80611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99FA6A-1897-F943-D0F3-B669535005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8680" y="1078992"/>
            <a:ext cx="10378440" cy="1874519"/>
          </a:xfrm>
        </p:spPr>
        <p:txBody>
          <a:bodyPr wrap="square" lIns="0" tIns="0" rIns="0" bIns="0" anchor="ctr">
            <a:normAutofit fontScale="90000"/>
          </a:bodyPr>
          <a:lstStyle/>
          <a:p>
            <a:pPr algn="ctr"/>
            <a:r>
              <a:rPr lang="de-DE" sz="4200" b="1">
                <a:solidFill>
                  <a:srgbClr val="F7F9FA"/>
                </a:solidFill>
                <a:latin typeface="Aptos Display"/>
              </a:rPr>
              <a:t>Qualitätsmessung von Metadaten nach DCAT-AP.de Standard</a:t>
            </a:r>
            <a:endParaRPr lang="de-DE" b="1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691457F-E3D2-465B-6C4D-C3EAFDE424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05840" y="3182112"/>
            <a:ext cx="10104120" cy="932688"/>
          </a:xfrm>
        </p:spPr>
        <p:txBody>
          <a:bodyPr wrap="square" lIns="0" tIns="0" rIns="0" bIns="0">
            <a:normAutofit fontScale="77500" lnSpcReduction="20000"/>
          </a:bodyPr>
          <a:lstStyle/>
          <a:p>
            <a:pPr algn="ctr"/>
            <a:r>
              <a:rPr lang="de-DE" sz="2400" b="1">
                <a:solidFill>
                  <a:srgbClr val="F7F9FA"/>
                </a:solidFill>
                <a:latin typeface="Aptos Display"/>
              </a:rPr>
              <a:t>Lars Bürger</a:t>
            </a:r>
          </a:p>
          <a:p>
            <a:pPr algn="ctr">
              <a:spcBef>
                <a:spcPts val="500"/>
              </a:spcBef>
            </a:pPr>
            <a:r>
              <a:rPr lang="de-DE" sz="1600" b="0">
                <a:solidFill>
                  <a:srgbClr val="F7F9FA"/>
                </a:solidFill>
                <a:latin typeface="Aptos"/>
              </a:rPr>
              <a:t>Master of Science Informatik, HTWG Konstanz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2F3E4965-CCBA-514D-D673-D8BB02A58DED}"/>
              </a:ext>
            </a:extLst>
          </p:cNvPr>
          <p:cNvSpPr txBox="1"/>
          <p:nvPr/>
        </p:nvSpPr>
        <p:spPr>
          <a:xfrm>
            <a:off x="4008120" y="271531"/>
            <a:ext cx="4160520" cy="261610"/>
          </a:xfrm>
          <a:prstGeom prst="rect">
            <a:avLst/>
          </a:prstGeom>
          <a:solidFill>
            <a:schemeClr val="accent3"/>
          </a:solidFill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de-DE" sz="1700" b="0">
                <a:solidFill>
                  <a:srgbClr val="002D47"/>
                </a:solidFill>
                <a:latin typeface="Aptos"/>
              </a:rPr>
              <a:t>Kolloquium zur Masterthesis</a:t>
            </a:r>
            <a:endParaRPr lang="de-DE" dirty="0">
              <a:solidFill>
                <a:schemeClr val="tx2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90880" y="4803648"/>
            <a:ext cx="5669280" cy="4924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en-US" sz="1600" dirty="0" err="1">
                <a:solidFill>
                  <a:srgbClr val="F7F9FA"/>
                </a:solidFill>
                <a:latin typeface="Aptos"/>
              </a:rPr>
              <a:t>Betreuerin</a:t>
            </a:r>
            <a:r>
              <a:rPr lang="en-US" sz="1600" dirty="0">
                <a:solidFill>
                  <a:srgbClr val="F7F9FA"/>
                </a:solidFill>
                <a:latin typeface="Aptos"/>
              </a:rPr>
              <a:t>: Stephanie Bornholdt</a:t>
            </a:r>
          </a:p>
          <a:p>
            <a:pPr algn="l"/>
            <a:r>
              <a:rPr lang="en-US" sz="1600" dirty="0" err="1">
                <a:solidFill>
                  <a:srgbClr val="F7F9FA"/>
                </a:solidFill>
                <a:latin typeface="Aptos"/>
              </a:rPr>
              <a:t>Zweitbetreuer</a:t>
            </a:r>
            <a:r>
              <a:rPr sz="1600" b="0" dirty="0">
                <a:solidFill>
                  <a:srgbClr val="F7F9FA"/>
                </a:solidFill>
                <a:latin typeface="Aptos"/>
              </a:rPr>
              <a:t>: Prof. Dr. Markus Eiglsperger</a:t>
            </a:r>
            <a:endParaRPr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43894284-779A-D0E5-10AD-9FE111A61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 E I T E N B A U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2AB7F94E-8AEB-B845-C72D-D5266504E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09B90-955E-4D15-9590-89161BB2646F}" type="slidenum">
              <a:rPr lang="de-DE" smtClean="0"/>
              <a:pPr/>
              <a:t>1</a:t>
            </a:fld>
            <a:endParaRPr lang="de-DE"/>
          </a:p>
        </p:txBody>
      </p:sp>
      <p:sp>
        <p:nvSpPr>
          <p:cNvPr id="11" name="Datumsplatzhalter 3">
            <a:extLst>
              <a:ext uri="{FF2B5EF4-FFF2-40B4-BE49-F238E27FC236}">
                <a16:creationId xmlns:a16="http://schemas.microsoft.com/office/drawing/2014/main" id="{E342F399-BB0E-14F8-4EA4-417A6ABA9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17.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55002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Ausgangslage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D50A25A-0F56-FB99-29B3-14236265D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14. September 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943342C-BBD0-6DE2-2B65-BAC48CCEE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 E I T E N B A U</a:t>
            </a:r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6B239F5-A1BB-7D51-108A-47EBED818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1240028" y="1781048"/>
            <a:ext cx="22860" cy="3822191"/>
          </a:xfrm>
          <a:prstGeom prst="rect">
            <a:avLst/>
          </a:prstGeom>
          <a:solidFill>
            <a:srgbClr val="708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4268" y="1634744"/>
            <a:ext cx="71323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>
                <a:solidFill>
                  <a:srgbClr val="002D47"/>
                </a:solidFill>
                <a:latin typeface="Aptos Display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4268" y="2640584"/>
            <a:ext cx="71323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>
                <a:solidFill>
                  <a:srgbClr val="002D47"/>
                </a:solidFill>
                <a:latin typeface="Aptos Display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61512" y="2547665"/>
            <a:ext cx="7655560" cy="5539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lang="en-US" dirty="0">
                <a:solidFill>
                  <a:srgbClr val="002D47"/>
                </a:solidFill>
                <a:latin typeface="Aptos"/>
              </a:rPr>
              <a:t> </a:t>
            </a:r>
            <a:r>
              <a:rPr sz="1800" b="0" dirty="0">
                <a:solidFill>
                  <a:srgbClr val="002D47"/>
                </a:solidFill>
                <a:latin typeface="Aptos"/>
              </a:rPr>
              <a:t>Datensätze (Stand 05/2026) – eine manuelle Qualitätsprüfung ist ausgeschlossen.</a:t>
            </a:r>
            <a:endParaRPr lang="de-DE"/>
          </a:p>
        </p:txBody>
      </p:sp>
      <p:sp>
        <p:nvSpPr>
          <p:cNvPr id="10" name="TextBox 9"/>
          <p:cNvSpPr txBox="1"/>
          <p:nvPr/>
        </p:nvSpPr>
        <p:spPr>
          <a:xfrm>
            <a:off x="874268" y="3783584"/>
            <a:ext cx="71323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>
                <a:solidFill>
                  <a:srgbClr val="002D47"/>
                </a:solidFill>
                <a:latin typeface="Aptos Display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4268" y="4899152"/>
            <a:ext cx="71323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>
                <a:solidFill>
                  <a:srgbClr val="00FF00"/>
                </a:solidFill>
                <a:latin typeface="Aptos Display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13052" y="1590155"/>
            <a:ext cx="8874760" cy="5539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>
                <a:solidFill>
                  <a:srgbClr val="002D47"/>
                </a:solidFill>
                <a:latin typeface="Aptos"/>
              </a:rPr>
              <a:t>GovData aggregiert Metadaten von Bund, Ländern und Kommunen – gepflegt werden sie dezentral, in sehr unterschiedlicher Qualität.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49552" y="3590544"/>
            <a:ext cx="9738360" cy="8412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>
                <a:solidFill>
                  <a:srgbClr val="002D47"/>
                </a:solidFill>
                <a:latin typeface="Aptos"/>
              </a:rPr>
              <a:t>Unvollständige und inkonsistente Metadaten erschweren Auffindbarkeit und Nachnutzung.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52600" y="4702556"/>
            <a:ext cx="59436" cy="896112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056892" y="4671568"/>
            <a:ext cx="89154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>
                <a:solidFill>
                  <a:srgbClr val="002D47"/>
                </a:solidFill>
                <a:latin typeface="Aptos"/>
              </a:rPr>
              <a:t>Die SHACL-Validierung prüft die formale Struktur – nicht die Nutzbarkeit.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10253980" y="4974844"/>
            <a:ext cx="566928" cy="310896"/>
          </a:xfrm>
          <a:prstGeom prst="rightArrow">
            <a:avLst/>
          </a:prstGeom>
          <a:solidFill>
            <a:srgbClr val="00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F84BD4E9-BE44-7C77-8036-0CF73CB1A961}"/>
              </a:ext>
            </a:extLst>
          </p:cNvPr>
          <p:cNvSpPr txBox="1"/>
          <p:nvPr/>
        </p:nvSpPr>
        <p:spPr>
          <a:xfrm>
            <a:off x="1752600" y="2540000"/>
            <a:ext cx="1701800" cy="8925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400" b="1" i="0" u="none" strike="noStrike" baseline="0">
                <a:solidFill>
                  <a:srgbClr val="002D47"/>
                </a:solidFill>
                <a:latin typeface="Aptos Display"/>
                <a:ea typeface="Aptos Display"/>
                <a:cs typeface="Aptos Display"/>
              </a:rPr>
              <a:t>151.579</a:t>
            </a:r>
            <a:endParaRPr lang="de-DE"/>
          </a:p>
          <a:p>
            <a:pPr algn="ctr"/>
            <a:endParaRPr lang="de-D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080385B-34E9-0684-2C88-8C9BF3719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/>
              <a:t>Forschungsfragen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D50A25A-0F56-FB99-29B3-14236265D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14. September 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943342C-BBD0-6DE2-2B65-BAC48CCEE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 E I T E N B A U</a:t>
            </a:r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6B239F5-A1BB-7D51-108A-47EBED818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105156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600" b="1">
                <a:solidFill>
                  <a:srgbClr val="002D47"/>
                </a:solidFill>
                <a:latin typeface="Aptos Display"/>
              </a:rPr>
              <a:t>ZENTRALE FORSCHUNGSFRAGE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1248" y="1371600"/>
            <a:ext cx="10515600" cy="1417320"/>
          </a:xfrm>
          <a:prstGeom prst="rect">
            <a:avLst/>
          </a:prstGeom>
          <a:solidFill>
            <a:srgbClr val="00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4048" tIns="128016" rIns="384048" bIns="109728" rtlCol="0" anchor="ctr">
            <a:noAutofit/>
          </a:bodyPr>
          <a:lstStyle/>
          <a:p>
            <a:pPr algn="ctr">
              <a:lnSpc>
                <a:spcPct val="103000"/>
              </a:lnSpc>
            </a:pPr>
            <a:r>
              <a:rPr lang="de-DE" sz="1900" b="1">
                <a:solidFill>
                  <a:srgbClr val="FFFFFF"/>
                </a:solidFill>
                <a:latin typeface="Aptos"/>
              </a:rPr>
              <a:t>„Wie kann ein Bewertungsmodell für die Qualität von DCAT-AP.de-Metadaten im GovData-Kontext entwickelt werden, das formale Prüfverfahren mit ergänzenden kontext- und semantikbezogenen Qualitätsindikatoren verbindet?“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" y="1371600"/>
            <a:ext cx="68580" cy="1417320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1248" y="306324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600" b="1">
                <a:solidFill>
                  <a:srgbClr val="002D47"/>
                </a:solidFill>
                <a:latin typeface="Aptos Display"/>
              </a:rPr>
              <a:t>TEILFRAGEN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" y="3401568"/>
            <a:ext cx="384048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2000"/>
              </a:lnSpc>
            </a:pPr>
            <a:r>
              <a:rPr sz="1800" b="1">
                <a:solidFill>
                  <a:srgbClr val="00FF00"/>
                </a:solidFill>
                <a:latin typeface="Aptos Display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35608" y="3401568"/>
            <a:ext cx="955548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0" dirty="0" err="1">
                <a:solidFill>
                  <a:srgbClr val="002D47"/>
                </a:solidFill>
                <a:latin typeface="Aptos"/>
              </a:rPr>
              <a:t>Übertragbarkeit</a:t>
            </a:r>
            <a:r>
              <a:rPr sz="1700" b="0" dirty="0">
                <a:solidFill>
                  <a:srgbClr val="002D47"/>
                </a:solidFill>
                <a:latin typeface="Aptos"/>
              </a:rPr>
              <a:t> </a:t>
            </a:r>
            <a:r>
              <a:rPr sz="1700" b="0" dirty="0" err="1">
                <a:solidFill>
                  <a:srgbClr val="002D47"/>
                </a:solidFill>
                <a:latin typeface="Aptos"/>
              </a:rPr>
              <a:t>bestehender</a:t>
            </a:r>
            <a:r>
              <a:rPr sz="1700" b="0" dirty="0">
                <a:solidFill>
                  <a:srgbClr val="002D47"/>
                </a:solidFill>
                <a:latin typeface="Aptos"/>
              </a:rPr>
              <a:t> </a:t>
            </a:r>
            <a:r>
              <a:rPr sz="1700" b="0" dirty="0" err="1">
                <a:solidFill>
                  <a:srgbClr val="002D47"/>
                </a:solidFill>
                <a:latin typeface="Aptos"/>
              </a:rPr>
              <a:t>Ansätze</a:t>
            </a:r>
            <a:endParaRPr lang="en-US" dirty="0" err="1"/>
          </a:p>
        </p:txBody>
      </p:sp>
      <p:sp>
        <p:nvSpPr>
          <p:cNvPr id="22" name="TextBox 21"/>
          <p:cNvSpPr txBox="1"/>
          <p:nvPr/>
        </p:nvSpPr>
        <p:spPr>
          <a:xfrm>
            <a:off x="877824" y="3822191"/>
            <a:ext cx="384048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2000"/>
              </a:lnSpc>
            </a:pPr>
            <a:r>
              <a:rPr sz="1800" b="1">
                <a:solidFill>
                  <a:srgbClr val="00FF00"/>
                </a:solidFill>
                <a:latin typeface="Aptos Display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35608" y="3822191"/>
            <a:ext cx="955548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002D47"/>
                </a:solidFill>
                <a:latin typeface="Aptos"/>
              </a:rPr>
              <a:t>Relevante Qualitätsdimensionen und Indikatoren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4242816"/>
            <a:ext cx="384048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2000"/>
              </a:lnSpc>
            </a:pPr>
            <a:r>
              <a:rPr sz="1800" b="1" dirty="0">
                <a:solidFill>
                  <a:srgbClr val="00FF00"/>
                </a:solidFill>
                <a:latin typeface="Aptos Display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35608" y="4242816"/>
            <a:ext cx="955548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0" dirty="0" err="1">
                <a:solidFill>
                  <a:srgbClr val="002D47"/>
                </a:solidFill>
                <a:latin typeface="Aptos"/>
              </a:rPr>
              <a:t>Ergänzende</a:t>
            </a:r>
            <a:r>
              <a:rPr sz="1700" b="0" dirty="0">
                <a:solidFill>
                  <a:srgbClr val="002D47"/>
                </a:solidFill>
                <a:latin typeface="Aptos"/>
              </a:rPr>
              <a:t> </a:t>
            </a:r>
            <a:r>
              <a:rPr sz="1700" b="0" dirty="0" err="1">
                <a:solidFill>
                  <a:srgbClr val="002D47"/>
                </a:solidFill>
                <a:latin typeface="Aptos"/>
              </a:rPr>
              <a:t>semantik</a:t>
            </a:r>
            <a:r>
              <a:rPr sz="1700" b="0" dirty="0">
                <a:solidFill>
                  <a:srgbClr val="002D47"/>
                </a:solidFill>
                <a:latin typeface="Aptos"/>
              </a:rPr>
              <a:t>- und </a:t>
            </a:r>
            <a:r>
              <a:rPr sz="1700" b="0" dirty="0" err="1">
                <a:solidFill>
                  <a:srgbClr val="002D47"/>
                </a:solidFill>
                <a:latin typeface="Aptos"/>
              </a:rPr>
              <a:t>kontextbezogene</a:t>
            </a:r>
            <a:r>
              <a:rPr sz="1700" b="0" dirty="0">
                <a:solidFill>
                  <a:srgbClr val="002D47"/>
                </a:solidFill>
                <a:latin typeface="Aptos"/>
              </a:rPr>
              <a:t> </a:t>
            </a:r>
            <a:r>
              <a:rPr sz="1700" b="0" dirty="0" err="1">
                <a:solidFill>
                  <a:srgbClr val="002D47"/>
                </a:solidFill>
                <a:latin typeface="Aptos"/>
              </a:rPr>
              <a:t>Prüfungen</a:t>
            </a:r>
            <a:endParaRPr sz="1700" b="0" dirty="0">
              <a:solidFill>
                <a:srgbClr val="002D47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77824" y="4663440"/>
            <a:ext cx="384048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2000"/>
              </a:lnSpc>
            </a:pPr>
            <a:r>
              <a:rPr sz="1800" b="1">
                <a:solidFill>
                  <a:srgbClr val="00FF00"/>
                </a:solidFill>
                <a:latin typeface="Aptos Display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35608" y="4663440"/>
            <a:ext cx="955548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002D47"/>
                </a:solidFill>
                <a:latin typeface="Aptos"/>
              </a:rPr>
              <a:t>Konzeption und prototypische Operationalisierung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5084064"/>
            <a:ext cx="384048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2000"/>
              </a:lnSpc>
            </a:pPr>
            <a:r>
              <a:rPr sz="1800" b="1">
                <a:solidFill>
                  <a:srgbClr val="00FF00"/>
                </a:solidFill>
                <a:latin typeface="Aptos Display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35608" y="5084064"/>
            <a:ext cx="955548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002D47"/>
                </a:solidFill>
                <a:latin typeface="Aptos"/>
              </a:rPr>
              <a:t>Menschenlesbares Qualitätsreporting</a:t>
            </a:r>
          </a:p>
        </p:txBody>
      </p:sp>
    </p:spTree>
    <p:extLst>
      <p:ext uri="{BB962C8B-B14F-4D97-AF65-F5344CB8AC3E}">
        <p14:creationId xmlns:p14="http://schemas.microsoft.com/office/powerpoint/2010/main" val="4872180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271F36-C2EE-88DC-D534-1605889A4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/>
              <a:t>Bewertungslücke bestehender Ansätze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5B75845-5903-DE36-2963-403D29BDE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14. September 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DCE042E-FC49-B04C-3F22-3B55564FD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 E I T E N B A U</a:t>
            </a:r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B7E4C7F-AC7D-EA55-620A-92761C884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591013"/>
              </p:ext>
            </p:extLst>
          </p:nvPr>
        </p:nvGraphicFramePr>
        <p:xfrm>
          <a:off x="835741" y="1020096"/>
          <a:ext cx="10398618" cy="39375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42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573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7011">
                  <a:extLst>
                    <a:ext uri="{9D8B030D-6E8A-4147-A177-3AD203B41FA5}">
                      <a16:colId xmlns:a16="http://schemas.microsoft.com/office/drawing/2014/main" val="3899416473"/>
                    </a:ext>
                  </a:extLst>
                </a:gridCol>
              </a:tblGrid>
              <a:tr h="442937"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700" b="1" dirty="0">
                          <a:solidFill>
                            <a:srgbClr val="FFFFFF"/>
                          </a:solidFill>
                          <a:latin typeface="Aptos Display"/>
                        </a:rPr>
                        <a:t>Ansatz</a:t>
                      </a:r>
                    </a:p>
                  </a:txBody>
                  <a:tcPr marL="201168" marR="164592" marT="91440" marB="73152" anchor="ctr">
                    <a:solidFill>
                      <a:srgbClr val="002D47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2000"/>
                        </a:lnSpc>
                        <a:buNone/>
                      </a:pPr>
                      <a:r>
                        <a:rPr lang="en-US" sz="1700" b="1" dirty="0" err="1">
                          <a:solidFill>
                            <a:srgbClr val="FFFFFF"/>
                          </a:solidFill>
                          <a:latin typeface="Aptos Display"/>
                        </a:rPr>
                        <a:t>liefert</a:t>
                      </a:r>
                      <a:endParaRPr sz="1700" b="1" dirty="0" err="1">
                        <a:solidFill>
                          <a:srgbClr val="FFFFFF"/>
                        </a:solidFill>
                        <a:latin typeface="Aptos Display"/>
                      </a:endParaRPr>
                    </a:p>
                  </a:txBody>
                  <a:tcPr marL="201168" marR="164592" marT="91440" marB="73152" anchor="ctr">
                    <a:solidFill>
                      <a:srgbClr val="002D47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2000"/>
                        </a:lnSpc>
                        <a:buNone/>
                      </a:pPr>
                      <a:r>
                        <a:rPr lang="en-US" sz="1700" b="1" dirty="0" err="1">
                          <a:solidFill>
                            <a:srgbClr val="FFFFFF"/>
                          </a:solidFill>
                          <a:latin typeface="Aptos Display"/>
                        </a:rPr>
                        <a:t>offen</a:t>
                      </a: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ptos Display"/>
                        </a:rPr>
                        <a:t> </a:t>
                      </a:r>
                      <a:r>
                        <a:rPr lang="en-US" sz="1700" b="1" dirty="0" err="1">
                          <a:solidFill>
                            <a:srgbClr val="FFFFFF"/>
                          </a:solidFill>
                          <a:latin typeface="Aptos Display"/>
                        </a:rPr>
                        <a:t>bleibt</a:t>
                      </a:r>
                      <a:endParaRPr sz="1700" b="1" dirty="0" err="1">
                        <a:solidFill>
                          <a:srgbClr val="FFFFFF"/>
                        </a:solidFill>
                        <a:latin typeface="Aptos Display"/>
                      </a:endParaRPr>
                    </a:p>
                  </a:txBody>
                  <a:tcPr marL="201168" marR="164592" marT="91440" marB="73152" anchor="ctr">
                    <a:solidFill>
                      <a:srgbClr val="002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4279"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650" b="1" dirty="0">
                          <a:solidFill>
                            <a:srgbClr val="002D47"/>
                          </a:solidFill>
                          <a:latin typeface="Aptos"/>
                        </a:rPr>
                        <a:t>ISO 25012 / Wang &amp; Strong</a:t>
                      </a:r>
                    </a:p>
                  </a:txBody>
                  <a:tcPr marL="201168" marR="164592" marT="91440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lang="en-US" sz="1650" b="0" dirty="0" err="1">
                          <a:solidFill>
                            <a:srgbClr val="002D47"/>
                          </a:solidFill>
                          <a:latin typeface="Aptos"/>
                        </a:rPr>
                        <a:t>abstrakte</a:t>
                      </a:r>
                      <a:r>
                        <a:rPr sz="1650" b="0" dirty="0">
                          <a:solidFill>
                            <a:srgbClr val="002D47"/>
                          </a:solidFill>
                          <a:latin typeface="Aptos"/>
                        </a:rPr>
                        <a:t> </a:t>
                      </a:r>
                      <a:r>
                        <a:rPr sz="1650" b="0" dirty="0" err="1">
                          <a:solidFill>
                            <a:srgbClr val="002D47"/>
                          </a:solidFill>
                          <a:latin typeface="Aptos"/>
                        </a:rPr>
                        <a:t>Qualitätsbegriffe</a:t>
                      </a:r>
                      <a:r>
                        <a:rPr sz="1650" b="0" dirty="0">
                          <a:solidFill>
                            <a:srgbClr val="002D47"/>
                          </a:solidFill>
                          <a:latin typeface="Aptos"/>
                        </a:rPr>
                        <a:t>, </a:t>
                      </a:r>
                      <a:r>
                        <a:rPr lang="en-US" sz="1650" b="0" dirty="0">
                          <a:solidFill>
                            <a:srgbClr val="002D47"/>
                          </a:solidFill>
                          <a:latin typeface="Aptos"/>
                        </a:rPr>
                        <a:t>Fit for Purpose</a:t>
                      </a:r>
                      <a:endParaRPr sz="1650" b="0" dirty="0" err="1">
                        <a:solidFill>
                          <a:srgbClr val="002D47"/>
                        </a:solidFill>
                        <a:latin typeface="Aptos"/>
                      </a:endParaRPr>
                    </a:p>
                  </a:txBody>
                  <a:tcPr marL="201168" marR="164592" marT="91440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2000"/>
                        </a:lnSpc>
                        <a:buNone/>
                      </a:pPr>
                      <a:r>
                        <a:rPr lang="en-US" sz="1650" b="0" dirty="0" err="1">
                          <a:solidFill>
                            <a:srgbClr val="002D47"/>
                          </a:solidFill>
                          <a:latin typeface="Aptos"/>
                        </a:rPr>
                        <a:t>keine</a:t>
                      </a:r>
                      <a:r>
                        <a:rPr lang="en-US" sz="1650" b="0" dirty="0">
                          <a:solidFill>
                            <a:srgbClr val="002D47"/>
                          </a:solidFill>
                          <a:latin typeface="Aptos"/>
                        </a:rPr>
                        <a:t> </a:t>
                      </a:r>
                      <a:r>
                        <a:rPr lang="en-US" sz="1650" b="0" dirty="0" err="1">
                          <a:solidFill>
                            <a:srgbClr val="002D47"/>
                          </a:solidFill>
                          <a:latin typeface="Aptos"/>
                        </a:rPr>
                        <a:t>operationalisierten</a:t>
                      </a:r>
                      <a:r>
                        <a:rPr lang="en-US" sz="1650" b="0" dirty="0">
                          <a:solidFill>
                            <a:srgbClr val="002D47"/>
                          </a:solidFill>
                          <a:latin typeface="Aptos"/>
                        </a:rPr>
                        <a:t> </a:t>
                      </a:r>
                      <a:r>
                        <a:rPr lang="en-US" sz="1650" b="0" dirty="0" err="1">
                          <a:solidFill>
                            <a:srgbClr val="002D47"/>
                          </a:solidFill>
                          <a:latin typeface="Aptos"/>
                        </a:rPr>
                        <a:t>Metriken</a:t>
                      </a:r>
                      <a:endParaRPr sz="1650" b="0" dirty="0" err="1">
                        <a:solidFill>
                          <a:srgbClr val="002D47"/>
                        </a:solidFill>
                        <a:latin typeface="Aptos"/>
                      </a:endParaRPr>
                    </a:p>
                  </a:txBody>
                  <a:tcPr marL="201168" marR="164592" marT="91440" marB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0841"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650" b="1" dirty="0">
                          <a:solidFill>
                            <a:srgbClr val="002D47"/>
                          </a:solidFill>
                          <a:latin typeface="Aptos"/>
                        </a:rPr>
                        <a:t>Zaveri et al.</a:t>
                      </a:r>
                    </a:p>
                    <a:p>
                      <a:r>
                        <a:rPr dirty="0"/>
                        <a:t>(Linked-Data-</a:t>
                      </a:r>
                      <a:r>
                        <a:rPr dirty="0" err="1"/>
                        <a:t>Qualität</a:t>
                      </a:r>
                      <a:r>
                        <a:rPr dirty="0"/>
                        <a:t>)</a:t>
                      </a:r>
                    </a:p>
                  </a:txBody>
                  <a:tcPr marL="201168" marR="164592" marT="91440" marB="73152"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2000"/>
                        </a:lnSpc>
                        <a:buNone/>
                      </a:pPr>
                      <a:r>
                        <a:rPr lang="en-US" sz="1650" b="0" dirty="0" err="1">
                          <a:solidFill>
                            <a:srgbClr val="002D47"/>
                          </a:solidFill>
                          <a:latin typeface="Aptos"/>
                        </a:rPr>
                        <a:t>Qualitätslogiken</a:t>
                      </a:r>
                      <a:r>
                        <a:rPr lang="en-US" sz="1650" b="0" dirty="0">
                          <a:solidFill>
                            <a:srgbClr val="002D47"/>
                          </a:solidFill>
                          <a:latin typeface="Aptos"/>
                        </a:rPr>
                        <a:t> </a:t>
                      </a:r>
                      <a:r>
                        <a:rPr lang="en-US" sz="1650" b="0" dirty="0" err="1">
                          <a:solidFill>
                            <a:srgbClr val="002D47"/>
                          </a:solidFill>
                          <a:latin typeface="Aptos"/>
                        </a:rPr>
                        <a:t>jenseits</a:t>
                      </a:r>
                      <a:r>
                        <a:rPr lang="en-US" sz="1650" b="0" dirty="0">
                          <a:solidFill>
                            <a:srgbClr val="002D47"/>
                          </a:solidFill>
                          <a:latin typeface="Aptos"/>
                        </a:rPr>
                        <a:t> </a:t>
                      </a:r>
                      <a:r>
                        <a:rPr lang="en-US" sz="1650" b="0" dirty="0" err="1">
                          <a:solidFill>
                            <a:srgbClr val="002D47"/>
                          </a:solidFill>
                          <a:latin typeface="Aptos"/>
                        </a:rPr>
                        <a:t>formaler</a:t>
                      </a:r>
                      <a:r>
                        <a:rPr lang="en-US" sz="1650" b="0" dirty="0">
                          <a:solidFill>
                            <a:srgbClr val="002D47"/>
                          </a:solidFill>
                          <a:latin typeface="Aptos"/>
                        </a:rPr>
                        <a:t> </a:t>
                      </a:r>
                      <a:r>
                        <a:rPr lang="en-US" sz="1650" b="0" dirty="0" err="1">
                          <a:solidFill>
                            <a:srgbClr val="002D47"/>
                          </a:solidFill>
                          <a:latin typeface="Aptos"/>
                        </a:rPr>
                        <a:t>Validität</a:t>
                      </a:r>
                      <a:endParaRPr sz="1650" b="0" dirty="0" err="1">
                        <a:solidFill>
                          <a:srgbClr val="002D47"/>
                        </a:solidFill>
                        <a:latin typeface="Aptos"/>
                      </a:endParaRPr>
                    </a:p>
                  </a:txBody>
                  <a:tcPr marL="201168" marR="164592" marT="91440" marB="73152"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2000"/>
                        </a:lnSpc>
                        <a:buNone/>
                      </a:pPr>
                      <a:r>
                        <a:rPr lang="en-US" sz="1650" b="0" dirty="0">
                          <a:solidFill>
                            <a:srgbClr val="002D47"/>
                          </a:solidFill>
                          <a:latin typeface="Aptos"/>
                        </a:rPr>
                        <a:t>Kontextwissen </a:t>
                      </a:r>
                      <a:r>
                        <a:rPr lang="en-US" sz="1650" b="0" dirty="0" err="1">
                          <a:solidFill>
                            <a:srgbClr val="002D47"/>
                          </a:solidFill>
                          <a:latin typeface="Aptos"/>
                        </a:rPr>
                        <a:t>nötig</a:t>
                      </a:r>
                      <a:r>
                        <a:rPr lang="en-US" sz="1650" b="0" dirty="0">
                          <a:solidFill>
                            <a:srgbClr val="002D47"/>
                          </a:solidFill>
                          <a:latin typeface="Aptos"/>
                        </a:rPr>
                        <a:t>, </a:t>
                      </a:r>
                      <a:r>
                        <a:rPr lang="en-US" sz="1650" b="0" dirty="0" err="1">
                          <a:solidFill>
                            <a:srgbClr val="002D47"/>
                          </a:solidFill>
                          <a:latin typeface="Aptos"/>
                        </a:rPr>
                        <a:t>kaum</a:t>
                      </a:r>
                      <a:r>
                        <a:rPr lang="en-US" sz="1650" b="0" dirty="0">
                          <a:solidFill>
                            <a:srgbClr val="002D47"/>
                          </a:solidFill>
                          <a:latin typeface="Aptos"/>
                        </a:rPr>
                        <a:t> </a:t>
                      </a:r>
                      <a:r>
                        <a:rPr lang="en-US" sz="1650" b="0" dirty="0" err="1">
                          <a:solidFill>
                            <a:srgbClr val="002D47"/>
                          </a:solidFill>
                          <a:latin typeface="Aptos"/>
                        </a:rPr>
                        <a:t>automatisierbar</a:t>
                      </a:r>
                      <a:endParaRPr sz="1650" b="0" dirty="0" err="1">
                        <a:solidFill>
                          <a:srgbClr val="002D47"/>
                        </a:solidFill>
                        <a:latin typeface="Aptos"/>
                      </a:endParaRPr>
                    </a:p>
                  </a:txBody>
                  <a:tcPr marL="201168" marR="164592" marT="91440" marB="73152" anchor="ctr">
                    <a:solidFill>
                      <a:srgbClr val="F2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62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DCAT-AP.de-SHACL</a:t>
                      </a:r>
                      <a:endParaRPr dirty="0"/>
                    </a:p>
                  </a:txBody>
                  <a:tcPr marL="201168" marR="164592" marT="91440" marB="73152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2000"/>
                        </a:lnSpc>
                        <a:buNone/>
                      </a:pPr>
                      <a:r>
                        <a:rPr lang="en-US" sz="1650" b="0" dirty="0" err="1">
                          <a:solidFill>
                            <a:srgbClr val="002D47"/>
                          </a:solidFill>
                          <a:latin typeface="Aptos"/>
                        </a:rPr>
                        <a:t>verlässliche</a:t>
                      </a:r>
                      <a:r>
                        <a:rPr lang="en-US" sz="1650" b="0" dirty="0">
                          <a:solidFill>
                            <a:srgbClr val="002D47"/>
                          </a:solidFill>
                          <a:latin typeface="Aptos"/>
                        </a:rPr>
                        <a:t> </a:t>
                      </a:r>
                      <a:r>
                        <a:rPr lang="en-US" sz="1650" b="0" dirty="0" err="1">
                          <a:solidFill>
                            <a:srgbClr val="002D47"/>
                          </a:solidFill>
                          <a:latin typeface="Aptos"/>
                        </a:rPr>
                        <a:t>formale</a:t>
                      </a:r>
                      <a:r>
                        <a:rPr lang="en-US" sz="1650" b="0" dirty="0">
                          <a:solidFill>
                            <a:srgbClr val="002D47"/>
                          </a:solidFill>
                          <a:latin typeface="Aptos"/>
                        </a:rPr>
                        <a:t> Basis</a:t>
                      </a:r>
                      <a:endParaRPr sz="1650" b="0" dirty="0">
                        <a:solidFill>
                          <a:srgbClr val="002D47"/>
                        </a:solidFill>
                        <a:latin typeface="Aptos"/>
                      </a:endParaRPr>
                    </a:p>
                  </a:txBody>
                  <a:tcPr marL="201168" marR="164592" marT="91440" marB="73152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2000"/>
                        </a:lnSpc>
                        <a:buNone/>
                      </a:pPr>
                      <a:r>
                        <a:rPr lang="en-US" sz="1650" b="0" dirty="0" err="1">
                          <a:solidFill>
                            <a:srgbClr val="002D47"/>
                          </a:solidFill>
                          <a:latin typeface="Aptos"/>
                        </a:rPr>
                        <a:t>binär</a:t>
                      </a:r>
                      <a:r>
                        <a:rPr lang="en-US" sz="1650" b="0" dirty="0">
                          <a:solidFill>
                            <a:srgbClr val="002D47"/>
                          </a:solidFill>
                          <a:latin typeface="Aptos"/>
                        </a:rPr>
                        <a:t>, </a:t>
                      </a:r>
                      <a:r>
                        <a:rPr lang="en-US" sz="1650" b="0" dirty="0" err="1">
                          <a:solidFill>
                            <a:srgbClr val="002D47"/>
                          </a:solidFill>
                          <a:latin typeface="Aptos"/>
                        </a:rPr>
                        <a:t>kein</a:t>
                      </a:r>
                      <a:r>
                        <a:rPr lang="en-US" sz="1650" b="0" dirty="0">
                          <a:solidFill>
                            <a:srgbClr val="002D47"/>
                          </a:solidFill>
                          <a:latin typeface="Aptos"/>
                        </a:rPr>
                        <a:t> Score, </a:t>
                      </a:r>
                      <a:r>
                        <a:rPr lang="en-US" sz="1650" b="0" dirty="0" err="1">
                          <a:solidFill>
                            <a:srgbClr val="002D47"/>
                          </a:solidFill>
                          <a:latin typeface="Aptos"/>
                        </a:rPr>
                        <a:t>technische</a:t>
                      </a:r>
                      <a:r>
                        <a:rPr lang="en-US" sz="1650" b="0" dirty="0">
                          <a:solidFill>
                            <a:srgbClr val="002D47"/>
                          </a:solidFill>
                          <a:latin typeface="Aptos"/>
                        </a:rPr>
                        <a:t> </a:t>
                      </a:r>
                      <a:r>
                        <a:rPr lang="en-US" sz="1650" b="0" dirty="0" err="1">
                          <a:solidFill>
                            <a:srgbClr val="002D47"/>
                          </a:solidFill>
                          <a:latin typeface="Aptos"/>
                        </a:rPr>
                        <a:t>Ausgabe</a:t>
                      </a:r>
                      <a:endParaRPr sz="1650" b="0" dirty="0" err="1">
                        <a:solidFill>
                          <a:srgbClr val="002D47"/>
                        </a:solidFill>
                        <a:latin typeface="Aptos"/>
                      </a:endParaRPr>
                    </a:p>
                  </a:txBody>
                  <a:tcPr marL="201168" marR="164592" marT="91440" marB="73152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6037581"/>
                  </a:ext>
                </a:extLst>
              </a:tr>
              <a:tr h="885872"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650" b="1" dirty="0">
                          <a:solidFill>
                            <a:srgbClr val="002D47"/>
                          </a:solidFill>
                          <a:latin typeface="Aptos"/>
                        </a:rPr>
                        <a:t>MQA (data.europa.eu)</a:t>
                      </a:r>
                    </a:p>
                  </a:txBody>
                  <a:tcPr marL="201168" marR="164592" marT="91440" marB="73152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2000"/>
                        </a:lnSpc>
                        <a:buNone/>
                      </a:pPr>
                      <a:r>
                        <a:rPr lang="en-US" sz="1650" b="0" dirty="0" err="1">
                          <a:solidFill>
                            <a:srgbClr val="002D47"/>
                          </a:solidFill>
                          <a:latin typeface="Aptos"/>
                        </a:rPr>
                        <a:t>automatisiert</a:t>
                      </a:r>
                      <a:r>
                        <a:rPr lang="en-US" sz="1650" b="0" dirty="0">
                          <a:solidFill>
                            <a:srgbClr val="002D47"/>
                          </a:solidFill>
                          <a:latin typeface="Aptos"/>
                        </a:rPr>
                        <a:t>, </a:t>
                      </a:r>
                      <a:r>
                        <a:rPr lang="en-US" sz="1650" b="0" dirty="0" err="1">
                          <a:solidFill>
                            <a:srgbClr val="002D47"/>
                          </a:solidFill>
                          <a:latin typeface="Aptos"/>
                        </a:rPr>
                        <a:t>portalerprobt</a:t>
                      </a:r>
                      <a:endParaRPr sz="1650" b="0" dirty="0" err="1">
                        <a:solidFill>
                          <a:srgbClr val="002D47"/>
                        </a:solidFill>
                        <a:latin typeface="Aptos"/>
                      </a:endParaRPr>
                    </a:p>
                  </a:txBody>
                  <a:tcPr marL="201168" marR="164592" marT="91440" marB="73152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2000"/>
                        </a:lnSpc>
                        <a:buNone/>
                      </a:pPr>
                      <a:r>
                        <a:rPr lang="en-US" sz="1650" b="0" dirty="0" err="1">
                          <a:solidFill>
                            <a:srgbClr val="002D47"/>
                          </a:solidFill>
                          <a:latin typeface="Aptos"/>
                        </a:rPr>
                        <a:t>Inhalt</a:t>
                      </a:r>
                      <a:r>
                        <a:rPr lang="en-US" sz="1650" b="0" dirty="0">
                          <a:solidFill>
                            <a:srgbClr val="002D47"/>
                          </a:solidFill>
                          <a:latin typeface="Aptos"/>
                        </a:rPr>
                        <a:t> der Felder </a:t>
                      </a:r>
                      <a:r>
                        <a:rPr lang="en-US" sz="1650" b="0" dirty="0" err="1">
                          <a:solidFill>
                            <a:srgbClr val="002D47"/>
                          </a:solidFill>
                          <a:latin typeface="Aptos"/>
                        </a:rPr>
                        <a:t>ungeprüft</a:t>
                      </a:r>
                      <a:endParaRPr sz="1650" b="0" dirty="0" err="1">
                        <a:solidFill>
                          <a:srgbClr val="002D47"/>
                        </a:solidFill>
                        <a:latin typeface="Aptos"/>
                      </a:endParaRPr>
                    </a:p>
                  </a:txBody>
                  <a:tcPr marL="201168" marR="164592" marT="91440" marB="73152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38200" y="5074285"/>
            <a:ext cx="274320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600" b="1" dirty="0">
                <a:solidFill>
                  <a:srgbClr val="002D47"/>
                </a:solidFill>
                <a:latin typeface="Aptos Display"/>
              </a:rPr>
              <a:t>BEWERTUNGSLÜCKE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5541264"/>
            <a:ext cx="91440" cy="393192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15568" y="5468112"/>
            <a:ext cx="1010412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850" b="1">
                <a:solidFill>
                  <a:srgbClr val="002D47"/>
                </a:solidFill>
                <a:latin typeface="Aptos"/>
              </a:rPr>
              <a:t>Kein bestehender Ansatz verbindet formale Prüfung mit semantischer Bewertung bei voller Nachvollziehbarkeit.</a:t>
            </a:r>
          </a:p>
        </p:txBody>
      </p:sp>
    </p:spTree>
    <p:extLst>
      <p:ext uri="{BB962C8B-B14F-4D97-AF65-F5344CB8AC3E}">
        <p14:creationId xmlns:p14="http://schemas.microsoft.com/office/powerpoint/2010/main" val="89637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7BE762-A2BF-47D6-3E7B-BA6D06660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/>
              <a:t>Experteninterviews: zentrale Anforderungen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FE43956-42BB-8515-7DDB-E812B2CD8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14. September 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E310C22-3F4D-3AAE-BC2D-89A9DC122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 E I T E N B A U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C5FEC45-1490-D407-9EA5-83BA952F0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298448"/>
            <a:ext cx="25146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dirty="0">
                <a:solidFill>
                  <a:srgbClr val="002D47"/>
                </a:solidFill>
                <a:latin typeface="Aptos Display"/>
              </a:rPr>
              <a:t>QUALITATIVE AUSWERTUNG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728" y="1715008"/>
            <a:ext cx="1234440" cy="9875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200" b="1" dirty="0">
                <a:solidFill>
                  <a:srgbClr val="00FF00"/>
                </a:solidFill>
                <a:latin typeface="Aptos Display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47088" y="1792224"/>
            <a:ext cx="1508760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 dirty="0" err="1">
                <a:solidFill>
                  <a:srgbClr val="002D47"/>
                </a:solidFill>
                <a:latin typeface="Aptos Display"/>
              </a:rPr>
              <a:t>Experten</a:t>
            </a:r>
            <a:r>
              <a:rPr sz="2200" b="1" dirty="0">
                <a:solidFill>
                  <a:srgbClr val="002D47"/>
                </a:solidFill>
                <a:latin typeface="Aptos Display"/>
              </a:rPr>
              <a:t>-
interviews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2834640"/>
            <a:ext cx="2468880" cy="50292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1088" y="4055872"/>
            <a:ext cx="248716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2D47"/>
                </a:solidFill>
                <a:latin typeface="Aptos Display"/>
              </a:rPr>
              <a:t>LEITPRINZIP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4365752"/>
            <a:ext cx="2466848" cy="1209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2500" b="1" dirty="0">
                <a:solidFill>
                  <a:srgbClr val="002D47"/>
                </a:solidFill>
                <a:latin typeface="Aptos Display"/>
              </a:rPr>
              <a:t>„</a:t>
            </a:r>
            <a:r>
              <a:rPr lang="en-US" sz="2500" b="1" dirty="0">
                <a:solidFill>
                  <a:srgbClr val="002D47"/>
                </a:solidFill>
                <a:latin typeface="Aptos Display"/>
              </a:rPr>
              <a:t>Fit for Purpose </a:t>
            </a:r>
            <a:r>
              <a:rPr lang="en-US" sz="2500" b="1" dirty="0" err="1">
                <a:solidFill>
                  <a:srgbClr val="002D47"/>
                </a:solidFill>
                <a:latin typeface="Aptos Display"/>
              </a:rPr>
              <a:t>statt</a:t>
            </a:r>
            <a:r>
              <a:rPr lang="en-US" sz="2500" b="1" dirty="0">
                <a:solidFill>
                  <a:srgbClr val="002D47"/>
                </a:solidFill>
                <a:latin typeface="Aptos Display"/>
              </a:rPr>
              <a:t> Formal- </a:t>
            </a:r>
            <a:r>
              <a:rPr lang="en-US" sz="2500" b="1" dirty="0" err="1">
                <a:solidFill>
                  <a:srgbClr val="002D47"/>
                </a:solidFill>
                <a:latin typeface="Aptos Display"/>
              </a:rPr>
              <a:t>erfüllung</a:t>
            </a:r>
            <a:r>
              <a:rPr sz="2500" b="1" dirty="0">
                <a:solidFill>
                  <a:srgbClr val="002D47"/>
                </a:solidFill>
                <a:latin typeface="Aptos Display"/>
              </a:rPr>
              <a:t>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93592" y="1298448"/>
            <a:ext cx="16459" cy="4626864"/>
          </a:xfrm>
          <a:prstGeom prst="rect">
            <a:avLst/>
          </a:prstGeom>
          <a:solidFill>
            <a:srgbClr val="708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977639" y="1298448"/>
            <a:ext cx="72694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 dirty="0">
                <a:solidFill>
                  <a:srgbClr val="002D47"/>
                </a:solidFill>
                <a:latin typeface="Aptos Display"/>
              </a:rPr>
              <a:t>ZENTRALE ANFORDERUNGEN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39" y="1764792"/>
            <a:ext cx="347472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900" b="1" dirty="0">
                <a:solidFill>
                  <a:srgbClr val="00FF00"/>
                </a:solidFill>
                <a:latin typeface="Aptos Display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1755648"/>
            <a:ext cx="6720840" cy="6949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de-DE" b="1" dirty="0">
                <a:solidFill>
                  <a:srgbClr val="002D47"/>
                </a:solidFill>
                <a:latin typeface="Aptos"/>
              </a:rPr>
              <a:t>Formale Validierung als Basisschicht</a:t>
            </a:r>
            <a:r>
              <a:rPr sz="1800" b="1" dirty="0">
                <a:solidFill>
                  <a:srgbClr val="002D47"/>
                </a:solidFill>
                <a:latin typeface="Aptos"/>
              </a:rPr>
              <a:t>
</a:t>
            </a:r>
            <a:r>
              <a:rPr lang="de-DE" sz="1600" dirty="0">
                <a:solidFill>
                  <a:srgbClr val="002D47"/>
                </a:solidFill>
                <a:latin typeface="Aptos"/>
              </a:rPr>
              <a:t>DCAT-AP.de- / SHACL-Konformität notwendig aber nicht gleich Gesamtqualität</a:t>
            </a:r>
            <a:endParaRPr lang="de-DE" sz="1600" dirty="0">
              <a:solidFill>
                <a:srgbClr val="002D47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977639" y="2578608"/>
            <a:ext cx="347472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900" b="1">
                <a:solidFill>
                  <a:srgbClr val="00FF00"/>
                </a:solidFill>
                <a:latin typeface="Aptos Display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2569464"/>
            <a:ext cx="6720840" cy="6949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de-DE" b="1" dirty="0">
                <a:solidFill>
                  <a:srgbClr val="002D47"/>
                </a:solidFill>
                <a:latin typeface="Aptos"/>
              </a:rPr>
              <a:t>Kontextsensitive Vollständigkeit</a:t>
            </a:r>
            <a:r>
              <a:rPr sz="1800" b="1" dirty="0">
                <a:solidFill>
                  <a:srgbClr val="002D47"/>
                </a:solidFill>
                <a:latin typeface="Aptos"/>
              </a:rPr>
              <a:t>
</a:t>
            </a:r>
            <a:r>
              <a:rPr lang="de-DE" sz="1600" dirty="0">
                <a:solidFill>
                  <a:srgbClr val="002D47"/>
                </a:solidFill>
                <a:latin typeface="Aptos"/>
              </a:rPr>
              <a:t>Relevante Felder zählen, nicht alle</a:t>
            </a:r>
            <a:endParaRPr lang="de-DE" sz="1600" b="1" dirty="0">
              <a:solidFill>
                <a:srgbClr val="002D47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966596" y="3293033"/>
            <a:ext cx="347472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900" b="1">
                <a:solidFill>
                  <a:srgbClr val="00FF00"/>
                </a:solidFill>
                <a:latin typeface="Aptos Display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69517" y="3283889"/>
            <a:ext cx="6720840" cy="6949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de-DE" b="1" dirty="0">
                <a:solidFill>
                  <a:srgbClr val="002D47"/>
                </a:solidFill>
                <a:latin typeface="Aptos"/>
              </a:rPr>
              <a:t>Semantische Qualitätsaspekte</a:t>
            </a:r>
            <a:r>
              <a:rPr sz="1800" b="1" dirty="0">
                <a:solidFill>
                  <a:srgbClr val="002D47"/>
                </a:solidFill>
                <a:latin typeface="Aptos"/>
              </a:rPr>
              <a:t>
</a:t>
            </a:r>
            <a:r>
              <a:rPr lang="de-DE" sz="1600" dirty="0">
                <a:solidFill>
                  <a:srgbClr val="002D47"/>
                </a:solidFill>
                <a:latin typeface="Aptos"/>
              </a:rPr>
              <a:t>Aussagekraft von Titel, Beschreibung, Keywords und Kategorien statt bloßer Feldexistenz</a:t>
            </a:r>
            <a:endParaRPr lang="en-US" sz="1600" dirty="0">
              <a:solidFill>
                <a:srgbClr val="002D47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977639" y="4206240"/>
            <a:ext cx="347472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900" b="1">
                <a:solidFill>
                  <a:srgbClr val="00FF00"/>
                </a:solidFill>
                <a:latin typeface="Aptos Display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4197096"/>
            <a:ext cx="6720840" cy="6949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de-DE" b="1" dirty="0">
                <a:solidFill>
                  <a:srgbClr val="002D47"/>
                </a:solidFill>
                <a:latin typeface="Aptos"/>
              </a:rPr>
              <a:t>Technische Nutzbarkeit</a:t>
            </a:r>
            <a:r>
              <a:rPr sz="1800" b="1" dirty="0">
                <a:solidFill>
                  <a:srgbClr val="002D47"/>
                </a:solidFill>
                <a:latin typeface="Aptos"/>
              </a:rPr>
              <a:t>
</a:t>
            </a:r>
            <a:r>
              <a:rPr lang="de-DE" sz="1600" dirty="0">
                <a:solidFill>
                  <a:srgbClr val="002D47"/>
                </a:solidFill>
                <a:latin typeface="Aptos"/>
              </a:rPr>
              <a:t>Die technische Erreichbarkeit und praktische Nachnutzbarkeit der referenzierten Ressourcen muss </a:t>
            </a:r>
            <a:r>
              <a:rPr lang="de-DE" sz="1600" dirty="0" err="1">
                <a:solidFill>
                  <a:srgbClr val="002D47"/>
                </a:solidFill>
                <a:latin typeface="Aptos"/>
              </a:rPr>
              <a:t>gepürft</a:t>
            </a:r>
            <a:r>
              <a:rPr lang="de-DE" sz="1600" dirty="0">
                <a:solidFill>
                  <a:srgbClr val="002D47"/>
                </a:solidFill>
                <a:latin typeface="Aptos"/>
              </a:rPr>
              <a:t> werden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77639" y="5020056"/>
            <a:ext cx="347472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900" b="1">
                <a:solidFill>
                  <a:srgbClr val="00FF00"/>
                </a:solidFill>
                <a:latin typeface="Aptos Display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5010912"/>
            <a:ext cx="6720840" cy="6949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de-DE" b="1" dirty="0">
                <a:solidFill>
                  <a:srgbClr val="002D47"/>
                </a:solidFill>
                <a:latin typeface="Aptos"/>
              </a:rPr>
              <a:t>Transparentes Reporting</a:t>
            </a:r>
            <a:r>
              <a:rPr sz="1800" b="1" dirty="0">
                <a:solidFill>
                  <a:srgbClr val="002D47"/>
                </a:solidFill>
                <a:latin typeface="Aptos"/>
              </a:rPr>
              <a:t>
</a:t>
            </a:r>
            <a:r>
              <a:rPr lang="de-DE" sz="1600" dirty="0">
                <a:solidFill>
                  <a:srgbClr val="002D47"/>
                </a:solidFill>
                <a:latin typeface="Aptos"/>
              </a:rPr>
              <a:t>Nachvollziehbare </a:t>
            </a:r>
            <a:r>
              <a:rPr lang="de-DE" sz="1600" dirty="0" err="1">
                <a:solidFill>
                  <a:srgbClr val="002D47"/>
                </a:solidFill>
                <a:latin typeface="Aptos"/>
              </a:rPr>
              <a:t>Teilscores</a:t>
            </a:r>
            <a:r>
              <a:rPr lang="de-DE" sz="1600" dirty="0">
                <a:solidFill>
                  <a:srgbClr val="002D47"/>
                </a:solidFill>
                <a:latin typeface="Aptos"/>
              </a:rPr>
              <a:t> mit konkreten Verbesserungsvorschlägen</a:t>
            </a:r>
            <a:endParaRPr lang="de-DE" sz="1600" dirty="0">
              <a:solidFill>
                <a:srgbClr val="002D4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40807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A5C0CD-F05D-53A2-D67F-E3833C50F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01168"/>
            <a:ext cx="10972800" cy="932688"/>
          </a:xfrm>
        </p:spPr>
        <p:txBody>
          <a:bodyPr>
            <a:normAutofit fontScale="90000"/>
          </a:bodyPr>
          <a:lstStyle/>
          <a:p>
            <a:r>
              <a:rPr lang="de-DE" sz="3500" dirty="0"/>
              <a:t>Verdichtung der Kandidatendimensionen zu finalen Dimensionen</a:t>
            </a:r>
            <a:endParaRPr lang="en-US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342F399-BB0E-14F8-4EA4-417A6ABA9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14. September 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61C2C29-9A68-ADDC-AC07-C28CDE9EC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 E I T E N B A U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BB6EE48-E9AC-A61E-4970-A74A57378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298448"/>
            <a:ext cx="28803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2D47"/>
                </a:solidFill>
                <a:latin typeface="Aptos Display"/>
              </a:rPr>
              <a:t>VERDICHTUNG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636776"/>
            <a:ext cx="987552" cy="6949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800" b="1">
                <a:solidFill>
                  <a:srgbClr val="002D47"/>
                </a:solidFill>
                <a:latin typeface="Aptos Display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47088" y="1719072"/>
            <a:ext cx="1719072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2D47"/>
                </a:solidFill>
                <a:latin typeface="Aptos Display"/>
              </a:rPr>
              <a:t>Kandidaten-
dimensionen</a:t>
            </a:r>
          </a:p>
        </p:txBody>
      </p:sp>
      <p:sp>
        <p:nvSpPr>
          <p:cNvPr id="10" name="Trapezoid 9"/>
          <p:cNvSpPr/>
          <p:nvPr/>
        </p:nvSpPr>
        <p:spPr>
          <a:xfrm rot="10800000">
            <a:off x="896112" y="2377440"/>
            <a:ext cx="2679192" cy="960120"/>
          </a:xfrm>
          <a:prstGeom prst="trapezoid">
            <a:avLst/>
          </a:prstGeom>
          <a:solidFill>
            <a:srgbClr val="00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Down Arrow 10"/>
          <p:cNvSpPr/>
          <p:nvPr/>
        </p:nvSpPr>
        <p:spPr>
          <a:xfrm>
            <a:off x="1499616" y="3182112"/>
            <a:ext cx="1472184" cy="868680"/>
          </a:xfrm>
          <a:prstGeom prst="downArrow">
            <a:avLst/>
          </a:prstGeom>
          <a:solidFill>
            <a:srgbClr val="006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8" y="4105656"/>
            <a:ext cx="1143000" cy="7955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5400" b="1" dirty="0">
                <a:solidFill>
                  <a:srgbClr val="00FF00"/>
                </a:solidFill>
                <a:latin typeface="Aptos Display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47088" y="4197096"/>
            <a:ext cx="1755648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2D47"/>
                </a:solidFill>
                <a:latin typeface="Aptos Display"/>
              </a:rPr>
              <a:t>finale
Dimensionen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5138928"/>
            <a:ext cx="2724912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02D47"/>
                </a:solidFill>
                <a:latin typeface="Aptos"/>
              </a:rPr>
              <a:t>Auswahl nach Relevanz, Prüfbarkeit und Praxisnutzen.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86200" y="1298448"/>
            <a:ext cx="16459" cy="4370832"/>
          </a:xfrm>
          <a:prstGeom prst="rect">
            <a:avLst/>
          </a:prstGeom>
          <a:solidFill>
            <a:srgbClr val="708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79392" y="1298448"/>
            <a:ext cx="696772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2D47"/>
                </a:solidFill>
                <a:latin typeface="Aptos Display"/>
              </a:rPr>
              <a:t>DIE VIER FINALEN QUALITÄTSDIMENSIONEN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79392" y="1755648"/>
            <a:ext cx="50292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00FF00"/>
                </a:solidFill>
                <a:latin typeface="Aptos Display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83480" y="1737360"/>
            <a:ext cx="6199632" cy="74980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2000" b="1">
                <a:solidFill>
                  <a:srgbClr val="002D47"/>
                </a:solidFill>
                <a:latin typeface="Aptos"/>
              </a:rPr>
              <a:t>Auffindbarkeit
</a:t>
            </a:r>
            <a:r>
              <a:rPr sz="1600">
                <a:solidFill>
                  <a:srgbClr val="002D47"/>
                </a:solidFill>
                <a:latin typeface="Aptos"/>
              </a:rPr>
              <a:t>Kann der Datensatz gefunden und eingeordnet werden?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79392" y="2560320"/>
            <a:ext cx="6903720" cy="10972"/>
          </a:xfrm>
          <a:prstGeom prst="rect">
            <a:avLst/>
          </a:prstGeom>
          <a:solidFill>
            <a:srgbClr val="708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279392" y="2724912"/>
            <a:ext cx="50292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00FF00"/>
                </a:solidFill>
                <a:latin typeface="Aptos Display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3480" y="2706624"/>
            <a:ext cx="6199632" cy="74980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2000" b="1">
                <a:solidFill>
                  <a:srgbClr val="002D47"/>
                </a:solidFill>
                <a:latin typeface="Aptos"/>
              </a:rPr>
              <a:t>Zugänglichkeit
</a:t>
            </a:r>
            <a:r>
              <a:rPr sz="1600">
                <a:solidFill>
                  <a:srgbClr val="002D47"/>
                </a:solidFill>
                <a:latin typeface="Aptos"/>
              </a:rPr>
              <a:t>Ist die Ressource technisch erreichbar und nutzbar?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79392" y="3529584"/>
            <a:ext cx="6903720" cy="10972"/>
          </a:xfrm>
          <a:prstGeom prst="rect">
            <a:avLst/>
          </a:prstGeom>
          <a:solidFill>
            <a:srgbClr val="708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279392" y="3653167"/>
            <a:ext cx="50292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600" b="1" dirty="0">
                <a:solidFill>
                  <a:srgbClr val="00FF00"/>
                </a:solidFill>
                <a:latin typeface="Aptos Display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83480" y="3636429"/>
            <a:ext cx="6199632" cy="74980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2000" b="1" dirty="0" err="1">
                <a:solidFill>
                  <a:srgbClr val="002D47"/>
                </a:solidFill>
                <a:latin typeface="Aptos"/>
              </a:rPr>
              <a:t>Nachnutzbarkeit</a:t>
            </a:r>
            <a:r>
              <a:rPr sz="2000" b="1" dirty="0">
                <a:solidFill>
                  <a:srgbClr val="002D47"/>
                </a:solidFill>
                <a:latin typeface="Aptos"/>
              </a:rPr>
              <a:t>
</a:t>
            </a:r>
            <a:r>
              <a:rPr sz="1600" dirty="0" err="1">
                <a:solidFill>
                  <a:srgbClr val="002D47"/>
                </a:solidFill>
                <a:latin typeface="Aptos"/>
              </a:rPr>
              <a:t>Ist</a:t>
            </a:r>
            <a:r>
              <a:rPr sz="1600" dirty="0">
                <a:solidFill>
                  <a:srgbClr val="002D47"/>
                </a:solidFill>
                <a:latin typeface="Aptos"/>
              </a:rPr>
              <a:t> die </a:t>
            </a:r>
            <a:r>
              <a:rPr sz="1600" dirty="0" err="1">
                <a:solidFill>
                  <a:srgbClr val="002D47"/>
                </a:solidFill>
                <a:latin typeface="Aptos"/>
              </a:rPr>
              <a:t>Ressource</a:t>
            </a:r>
            <a:r>
              <a:rPr sz="1600" dirty="0">
                <a:solidFill>
                  <a:srgbClr val="002D47"/>
                </a:solidFill>
                <a:latin typeface="Aptos"/>
              </a:rPr>
              <a:t> </a:t>
            </a:r>
            <a:r>
              <a:rPr sz="1600" dirty="0" err="1">
                <a:solidFill>
                  <a:srgbClr val="002D47"/>
                </a:solidFill>
                <a:latin typeface="Aptos"/>
              </a:rPr>
              <a:t>rechtlich</a:t>
            </a:r>
            <a:r>
              <a:rPr sz="1600" dirty="0">
                <a:solidFill>
                  <a:srgbClr val="002D47"/>
                </a:solidFill>
                <a:latin typeface="Aptos"/>
              </a:rPr>
              <a:t>, </a:t>
            </a:r>
            <a:r>
              <a:rPr sz="1600" dirty="0" err="1">
                <a:solidFill>
                  <a:srgbClr val="002D47"/>
                </a:solidFill>
                <a:latin typeface="Aptos"/>
              </a:rPr>
              <a:t>organisatorisch</a:t>
            </a:r>
            <a:r>
              <a:rPr sz="1600" dirty="0">
                <a:solidFill>
                  <a:srgbClr val="002D47"/>
                </a:solidFill>
                <a:latin typeface="Aptos"/>
              </a:rPr>
              <a:t> und </a:t>
            </a:r>
            <a:r>
              <a:rPr sz="1600" dirty="0" err="1">
                <a:solidFill>
                  <a:srgbClr val="002D47"/>
                </a:solidFill>
                <a:latin typeface="Aptos"/>
              </a:rPr>
              <a:t>maschinell</a:t>
            </a:r>
            <a:r>
              <a:rPr sz="1600" dirty="0">
                <a:solidFill>
                  <a:srgbClr val="002D47"/>
                </a:solidFill>
                <a:latin typeface="Aptos"/>
              </a:rPr>
              <a:t> </a:t>
            </a:r>
            <a:r>
              <a:rPr sz="1600" dirty="0" err="1">
                <a:solidFill>
                  <a:srgbClr val="002D47"/>
                </a:solidFill>
                <a:latin typeface="Aptos"/>
              </a:rPr>
              <a:t>weiterverwendbar</a:t>
            </a:r>
            <a:r>
              <a:rPr sz="1600" dirty="0">
                <a:solidFill>
                  <a:srgbClr val="002D47"/>
                </a:solidFill>
                <a:latin typeface="Aptos"/>
              </a:rPr>
              <a:t>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79392" y="4663440"/>
            <a:ext cx="50292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00FF00"/>
                </a:solidFill>
                <a:latin typeface="Aptos Display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83480" y="4645152"/>
            <a:ext cx="6199632" cy="74980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2000" b="1">
                <a:solidFill>
                  <a:srgbClr val="002D47"/>
                </a:solidFill>
                <a:latin typeface="Aptos"/>
              </a:rPr>
              <a:t>Aussagekraft
</a:t>
            </a:r>
            <a:r>
              <a:rPr sz="1600">
                <a:solidFill>
                  <a:srgbClr val="002D47"/>
                </a:solidFill>
                <a:latin typeface="Aptos"/>
              </a:rPr>
              <a:t>Sind die Metadaten inhaltlich verständlich und plausibel?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" y="5925312"/>
            <a:ext cx="104698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dirty="0">
                <a:solidFill>
                  <a:srgbClr val="70818C"/>
                </a:solidFill>
                <a:latin typeface="Aptos"/>
              </a:rPr>
              <a:t>Aus </a:t>
            </a:r>
            <a:r>
              <a:rPr sz="1100" b="0" dirty="0" err="1">
                <a:solidFill>
                  <a:srgbClr val="70818C"/>
                </a:solidFill>
                <a:latin typeface="Aptos"/>
              </a:rPr>
              <a:t>Literatur</a:t>
            </a:r>
            <a:r>
              <a:rPr sz="1100" b="0" dirty="0">
                <a:solidFill>
                  <a:srgbClr val="70818C"/>
                </a:solidFill>
                <a:latin typeface="Aptos"/>
              </a:rPr>
              <a:t>, </a:t>
            </a:r>
            <a:r>
              <a:rPr sz="1100" b="0" dirty="0" err="1">
                <a:solidFill>
                  <a:srgbClr val="70818C"/>
                </a:solidFill>
                <a:latin typeface="Aptos"/>
              </a:rPr>
              <a:t>Bewertungslücke</a:t>
            </a:r>
            <a:r>
              <a:rPr sz="1100" b="0" dirty="0">
                <a:solidFill>
                  <a:srgbClr val="70818C"/>
                </a:solidFill>
                <a:latin typeface="Aptos"/>
              </a:rPr>
              <a:t> und Interviews </a:t>
            </a:r>
            <a:r>
              <a:rPr sz="1100" b="0" dirty="0" err="1">
                <a:solidFill>
                  <a:srgbClr val="70818C"/>
                </a:solidFill>
                <a:latin typeface="Aptos"/>
              </a:rPr>
              <a:t>abgeleitet</a:t>
            </a:r>
            <a:r>
              <a:rPr sz="1100" b="0" dirty="0">
                <a:solidFill>
                  <a:srgbClr val="70818C"/>
                </a:solidFill>
                <a:latin typeface="Aptos"/>
              </a:rPr>
              <a:t>; 27 </a:t>
            </a:r>
            <a:r>
              <a:rPr sz="1100" b="0" dirty="0" err="1">
                <a:solidFill>
                  <a:srgbClr val="70818C"/>
                </a:solidFill>
                <a:latin typeface="Aptos"/>
              </a:rPr>
              <a:t>aktive</a:t>
            </a:r>
            <a:r>
              <a:rPr sz="1100" b="0" dirty="0">
                <a:solidFill>
                  <a:srgbClr val="70818C"/>
                </a:solidFill>
                <a:latin typeface="Aptos"/>
              </a:rPr>
              <a:t> </a:t>
            </a:r>
            <a:r>
              <a:rPr sz="1100" b="0" dirty="0" err="1">
                <a:solidFill>
                  <a:srgbClr val="70818C"/>
                </a:solidFill>
                <a:latin typeface="Aptos"/>
              </a:rPr>
              <a:t>Einzelindikatoren</a:t>
            </a:r>
            <a:r>
              <a:rPr sz="1100" b="0" dirty="0">
                <a:solidFill>
                  <a:srgbClr val="70818C"/>
                </a:solidFill>
                <a:latin typeface="Aptos"/>
              </a:rPr>
              <a:t>.</a:t>
            </a:r>
          </a:p>
        </p:txBody>
      </p:sp>
      <p:sp>
        <p:nvSpPr>
          <p:cNvPr id="30" name="Rectangle 21">
            <a:extLst>
              <a:ext uri="{FF2B5EF4-FFF2-40B4-BE49-F238E27FC236}">
                <a16:creationId xmlns:a16="http://schemas.microsoft.com/office/drawing/2014/main" id="{DB7EFCF4-32C2-7BA5-975C-AB1958ADBF5F}"/>
              </a:ext>
            </a:extLst>
          </p:cNvPr>
          <p:cNvSpPr/>
          <p:nvPr/>
        </p:nvSpPr>
        <p:spPr>
          <a:xfrm>
            <a:off x="4279392" y="4535813"/>
            <a:ext cx="6903720" cy="10972"/>
          </a:xfrm>
          <a:prstGeom prst="rect">
            <a:avLst/>
          </a:prstGeom>
          <a:solidFill>
            <a:srgbClr val="708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7377436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Indikatoren: formal, technisch, semantisch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9552409"/>
              </p:ext>
            </p:extLst>
          </p:nvPr>
        </p:nvGraphicFramePr>
        <p:xfrm>
          <a:off x="841248" y="1471168"/>
          <a:ext cx="10515600" cy="3913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Aptos Display"/>
                        </a:rPr>
                        <a:t>Formal (FI)</a:t>
                      </a:r>
                    </a:p>
                  </a:txBody>
                  <a:tcPr marL="219456" marR="164592" marT="109728" marB="73152" anchor="ctr">
                    <a:solidFill>
                      <a:srgbClr val="002D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Aptos Display"/>
                        </a:rPr>
                        <a:t>Technisch (TI)</a:t>
                      </a:r>
                    </a:p>
                  </a:txBody>
                  <a:tcPr marL="219456" marR="164592" marT="109728" marB="73152" anchor="ctr">
                    <a:solidFill>
                      <a:srgbClr val="002D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Aptos Display"/>
                        </a:rPr>
                        <a:t>Semantisch (SI)</a:t>
                      </a:r>
                    </a:p>
                  </a:txBody>
                  <a:tcPr marL="219456" marR="164592" marT="109728" marB="73152" anchor="ctr">
                    <a:solidFill>
                      <a:srgbClr val="002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5264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1700"/>
                        </a:spcAft>
                      </a:pPr>
                      <a:r>
                        <a:rPr sz="2000" b="1" dirty="0">
                          <a:solidFill>
                            <a:srgbClr val="00FF00"/>
                          </a:solidFill>
                          <a:latin typeface="Aptos"/>
                        </a:rPr>
                        <a:t>•</a:t>
                      </a:r>
                      <a:r>
                        <a:rPr sz="1800" dirty="0">
                          <a:solidFill>
                            <a:srgbClr val="002D47"/>
                          </a:solidFill>
                          <a:latin typeface="Aptos"/>
                        </a:rPr>
                        <a:t>  </a:t>
                      </a:r>
                      <a:r>
                        <a:rPr sz="1800" dirty="0" err="1">
                          <a:solidFill>
                            <a:srgbClr val="002D47"/>
                          </a:solidFill>
                          <a:latin typeface="Aptos"/>
                        </a:rPr>
                        <a:t>Schlagwortanzahl</a:t>
                      </a:r>
                      <a:endParaRPr sz="1800" dirty="0">
                        <a:solidFill>
                          <a:srgbClr val="002D47"/>
                        </a:solidFill>
                        <a:latin typeface="Aptos"/>
                      </a:endParaRPr>
                    </a:p>
                    <a:p>
                      <a:pPr>
                        <a:lnSpc>
                          <a:spcPct val="105000"/>
                        </a:lnSpc>
                        <a:spcAft>
                          <a:spcPts val="1700"/>
                        </a:spcAft>
                      </a:pPr>
                      <a:r>
                        <a:rPr sz="2000" b="1" dirty="0">
                          <a:solidFill>
                            <a:srgbClr val="00FF00"/>
                          </a:solidFill>
                          <a:latin typeface="Aptos"/>
                        </a:rPr>
                        <a:t>•</a:t>
                      </a:r>
                      <a:r>
                        <a:rPr sz="1800" dirty="0">
                          <a:solidFill>
                            <a:srgbClr val="002D47"/>
                          </a:solidFill>
                          <a:latin typeface="Aptos"/>
                        </a:rPr>
                        <a:t>  </a:t>
                      </a:r>
                      <a:r>
                        <a:rPr sz="1800" dirty="0" err="1">
                          <a:solidFill>
                            <a:srgbClr val="002D47"/>
                          </a:solidFill>
                          <a:latin typeface="Aptos"/>
                        </a:rPr>
                        <a:t>Themenkategorie</a:t>
                      </a:r>
                      <a:r>
                        <a:rPr sz="1800" dirty="0">
                          <a:solidFill>
                            <a:srgbClr val="002D47"/>
                          </a:solidFill>
                          <a:latin typeface="Aptos"/>
                        </a:rPr>
                        <a:t> </a:t>
                      </a:r>
                      <a:r>
                        <a:rPr sz="1800" dirty="0" err="1">
                          <a:solidFill>
                            <a:srgbClr val="002D47"/>
                          </a:solidFill>
                          <a:latin typeface="Aptos"/>
                        </a:rPr>
                        <a:t>aus</a:t>
                      </a:r>
                      <a:r>
                        <a:rPr sz="1800" dirty="0">
                          <a:solidFill>
                            <a:srgbClr val="002D47"/>
                          </a:solidFill>
                          <a:latin typeface="Aptos"/>
                        </a:rPr>
                        <a:t> </a:t>
                      </a:r>
                      <a:r>
                        <a:rPr sz="1800" dirty="0" err="1">
                          <a:solidFill>
                            <a:srgbClr val="002D47"/>
                          </a:solidFill>
                          <a:latin typeface="Aptos"/>
                        </a:rPr>
                        <a:t>Vokabular</a:t>
                      </a:r>
                      <a:endParaRPr sz="1800" dirty="0">
                        <a:solidFill>
                          <a:srgbClr val="002D47"/>
                        </a:solidFill>
                        <a:latin typeface="Aptos"/>
                      </a:endParaRPr>
                    </a:p>
                    <a:p>
                      <a:pPr>
                        <a:lnSpc>
                          <a:spcPct val="105000"/>
                        </a:lnSpc>
                        <a:spcAft>
                          <a:spcPts val="1700"/>
                        </a:spcAft>
                      </a:pPr>
                      <a:r>
                        <a:rPr sz="2000" b="1" dirty="0">
                          <a:solidFill>
                            <a:srgbClr val="00FF00"/>
                          </a:solidFill>
                          <a:latin typeface="Aptos"/>
                        </a:rPr>
                        <a:t>•</a:t>
                      </a:r>
                      <a:r>
                        <a:rPr sz="1800" dirty="0">
                          <a:solidFill>
                            <a:srgbClr val="002D47"/>
                          </a:solidFill>
                          <a:latin typeface="Aptos"/>
                        </a:rPr>
                        <a:t>  </a:t>
                      </a:r>
                      <a:r>
                        <a:rPr sz="1800" dirty="0" err="1">
                          <a:solidFill>
                            <a:srgbClr val="002D47"/>
                          </a:solidFill>
                          <a:latin typeface="Aptos"/>
                        </a:rPr>
                        <a:t>Lizenz</a:t>
                      </a:r>
                      <a:r>
                        <a:rPr sz="1800" dirty="0">
                          <a:solidFill>
                            <a:srgbClr val="002D47"/>
                          </a:solidFill>
                          <a:latin typeface="Aptos"/>
                        </a:rPr>
                        <a:t> </a:t>
                      </a:r>
                      <a:r>
                        <a:rPr sz="1800" dirty="0" err="1">
                          <a:solidFill>
                            <a:srgbClr val="002D47"/>
                          </a:solidFill>
                          <a:latin typeface="Aptos"/>
                        </a:rPr>
                        <a:t>aus</a:t>
                      </a:r>
                      <a:r>
                        <a:rPr sz="1800" dirty="0">
                          <a:solidFill>
                            <a:srgbClr val="002D47"/>
                          </a:solidFill>
                          <a:latin typeface="Aptos"/>
                        </a:rPr>
                        <a:t> Lizenzliste</a:t>
                      </a:r>
                    </a:p>
                  </a:txBody>
                  <a:tcPr marL="228600" marR="182880" marT="164592" marB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1700"/>
                        </a:spcAft>
                      </a:pPr>
                      <a:r>
                        <a:rPr sz="2000" b="1" dirty="0">
                          <a:solidFill>
                            <a:srgbClr val="00FF00"/>
                          </a:solidFill>
                          <a:latin typeface="Aptos"/>
                        </a:rPr>
                        <a:t>•</a:t>
                      </a:r>
                      <a:r>
                        <a:rPr sz="1800" dirty="0">
                          <a:solidFill>
                            <a:srgbClr val="002D47"/>
                          </a:solidFill>
                          <a:latin typeface="Aptos"/>
                        </a:rPr>
                        <a:t>  </a:t>
                      </a:r>
                      <a:r>
                        <a:rPr sz="1800" dirty="0" err="1">
                          <a:solidFill>
                            <a:srgbClr val="002D47"/>
                          </a:solidFill>
                          <a:latin typeface="Aptos"/>
                        </a:rPr>
                        <a:t>Erreichbarkeit</a:t>
                      </a:r>
                      <a:r>
                        <a:rPr sz="1800" dirty="0">
                          <a:solidFill>
                            <a:srgbClr val="002D47"/>
                          </a:solidFill>
                          <a:latin typeface="Aptos"/>
                        </a:rPr>
                        <a:t> Download-URL</a:t>
                      </a:r>
                    </a:p>
                    <a:p>
                      <a:pPr>
                        <a:lnSpc>
                          <a:spcPct val="105000"/>
                        </a:lnSpc>
                        <a:spcAft>
                          <a:spcPts val="1700"/>
                        </a:spcAft>
                      </a:pPr>
                      <a:r>
                        <a:rPr sz="2000" b="1" dirty="0">
                          <a:solidFill>
                            <a:srgbClr val="00FF00"/>
                          </a:solidFill>
                          <a:latin typeface="Aptos"/>
                        </a:rPr>
                        <a:t>•</a:t>
                      </a:r>
                      <a:r>
                        <a:rPr sz="1800" dirty="0">
                          <a:solidFill>
                            <a:srgbClr val="002D47"/>
                          </a:solidFill>
                          <a:latin typeface="Aptos"/>
                        </a:rPr>
                        <a:t>  HTTP-</a:t>
                      </a:r>
                      <a:r>
                        <a:rPr sz="1800" dirty="0" err="1">
                          <a:solidFill>
                            <a:srgbClr val="002D47"/>
                          </a:solidFill>
                          <a:latin typeface="Aptos"/>
                        </a:rPr>
                        <a:t>Statuscode</a:t>
                      </a:r>
                      <a:endParaRPr sz="1800" dirty="0">
                        <a:solidFill>
                          <a:srgbClr val="002D47"/>
                        </a:solidFill>
                        <a:latin typeface="Aptos"/>
                      </a:endParaRPr>
                    </a:p>
                    <a:p>
                      <a:pPr>
                        <a:lnSpc>
                          <a:spcPct val="105000"/>
                        </a:lnSpc>
                        <a:spcAft>
                          <a:spcPts val="1700"/>
                        </a:spcAft>
                      </a:pPr>
                      <a:r>
                        <a:rPr sz="2000" b="1" dirty="0">
                          <a:solidFill>
                            <a:srgbClr val="00FF00"/>
                          </a:solidFill>
                          <a:latin typeface="Aptos"/>
                        </a:rPr>
                        <a:t>•</a:t>
                      </a:r>
                      <a:r>
                        <a:rPr sz="1800" dirty="0">
                          <a:solidFill>
                            <a:srgbClr val="002D47"/>
                          </a:solidFill>
                          <a:latin typeface="Aptos"/>
                        </a:rPr>
                        <a:t>  </a:t>
                      </a:r>
                      <a:r>
                        <a:rPr sz="1800" dirty="0" err="1">
                          <a:solidFill>
                            <a:srgbClr val="002D47"/>
                          </a:solidFill>
                          <a:latin typeface="Aptos"/>
                        </a:rPr>
                        <a:t>Maschinenlesbarer</a:t>
                      </a:r>
                      <a:r>
                        <a:rPr sz="1800" dirty="0">
                          <a:solidFill>
                            <a:srgbClr val="002D47"/>
                          </a:solidFill>
                          <a:latin typeface="Aptos"/>
                        </a:rPr>
                        <a:t> </a:t>
                      </a:r>
                      <a:r>
                        <a:rPr sz="1800" dirty="0" err="1">
                          <a:solidFill>
                            <a:srgbClr val="002D47"/>
                          </a:solidFill>
                          <a:latin typeface="Aptos"/>
                        </a:rPr>
                        <a:t>Zugriffsweg</a:t>
                      </a:r>
                      <a:endParaRPr sz="1800" dirty="0">
                        <a:solidFill>
                          <a:srgbClr val="002D47"/>
                        </a:solidFill>
                        <a:latin typeface="Aptos"/>
                      </a:endParaRPr>
                    </a:p>
                  </a:txBody>
                  <a:tcPr marL="228600" marR="182880" marT="164592" marB="109728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1700"/>
                        </a:spcAft>
                      </a:pPr>
                      <a:r>
                        <a:rPr sz="2000" b="1" dirty="0">
                          <a:solidFill>
                            <a:srgbClr val="00FF00"/>
                          </a:solidFill>
                          <a:latin typeface="Aptos"/>
                        </a:rPr>
                        <a:t>•</a:t>
                      </a:r>
                      <a:r>
                        <a:rPr sz="1800" dirty="0">
                          <a:solidFill>
                            <a:srgbClr val="002D47"/>
                          </a:solidFill>
                          <a:latin typeface="Aptos"/>
                        </a:rPr>
                        <a:t>  </a:t>
                      </a:r>
                      <a:r>
                        <a:rPr sz="1800" dirty="0" err="1">
                          <a:solidFill>
                            <a:srgbClr val="002D47"/>
                          </a:solidFill>
                          <a:latin typeface="Aptos"/>
                        </a:rPr>
                        <a:t>Aussagekraft</a:t>
                      </a:r>
                      <a:r>
                        <a:rPr sz="1800" dirty="0">
                          <a:solidFill>
                            <a:srgbClr val="002D47"/>
                          </a:solidFill>
                          <a:latin typeface="Aptos"/>
                        </a:rPr>
                        <a:t> des Titels</a:t>
                      </a:r>
                    </a:p>
                    <a:p>
                      <a:pPr>
                        <a:lnSpc>
                          <a:spcPct val="105000"/>
                        </a:lnSpc>
                        <a:spcAft>
                          <a:spcPts val="1700"/>
                        </a:spcAft>
                      </a:pPr>
                      <a:r>
                        <a:rPr sz="2000" b="1" dirty="0">
                          <a:solidFill>
                            <a:srgbClr val="00FF00"/>
                          </a:solidFill>
                          <a:latin typeface="Aptos"/>
                        </a:rPr>
                        <a:t>•</a:t>
                      </a:r>
                      <a:r>
                        <a:rPr sz="1800" dirty="0">
                          <a:solidFill>
                            <a:srgbClr val="002D47"/>
                          </a:solidFill>
                          <a:latin typeface="Aptos"/>
                        </a:rPr>
                        <a:t>  </a:t>
                      </a:r>
                      <a:r>
                        <a:rPr sz="1800" dirty="0" err="1">
                          <a:solidFill>
                            <a:srgbClr val="002D47"/>
                          </a:solidFill>
                          <a:latin typeface="Aptos"/>
                        </a:rPr>
                        <a:t>Kohärenz</a:t>
                      </a:r>
                      <a:r>
                        <a:rPr sz="1800" dirty="0">
                          <a:solidFill>
                            <a:srgbClr val="002D47"/>
                          </a:solidFill>
                          <a:latin typeface="Aptos"/>
                        </a:rPr>
                        <a:t> Titel/</a:t>
                      </a:r>
                      <a:r>
                        <a:rPr sz="1800" dirty="0" err="1">
                          <a:solidFill>
                            <a:srgbClr val="002D47"/>
                          </a:solidFill>
                          <a:latin typeface="Aptos"/>
                        </a:rPr>
                        <a:t>Beschreibung</a:t>
                      </a:r>
                      <a:endParaRPr sz="1800" dirty="0">
                        <a:solidFill>
                          <a:srgbClr val="002D47"/>
                        </a:solidFill>
                        <a:latin typeface="Aptos"/>
                      </a:endParaRPr>
                    </a:p>
                    <a:p>
                      <a:pPr>
                        <a:lnSpc>
                          <a:spcPct val="105000"/>
                        </a:lnSpc>
                        <a:spcAft>
                          <a:spcPts val="1700"/>
                        </a:spcAft>
                      </a:pPr>
                      <a:r>
                        <a:rPr sz="2000" b="1" dirty="0">
                          <a:solidFill>
                            <a:srgbClr val="00FF00"/>
                          </a:solidFill>
                          <a:latin typeface="Aptos"/>
                        </a:rPr>
                        <a:t>•</a:t>
                      </a:r>
                      <a:r>
                        <a:rPr sz="1800" dirty="0">
                          <a:solidFill>
                            <a:srgbClr val="002D47"/>
                          </a:solidFill>
                          <a:latin typeface="Aptos"/>
                        </a:rPr>
                        <a:t>  </a:t>
                      </a:r>
                      <a:r>
                        <a:rPr sz="1800" dirty="0" err="1">
                          <a:solidFill>
                            <a:srgbClr val="002D47"/>
                          </a:solidFill>
                          <a:latin typeface="Aptos"/>
                        </a:rPr>
                        <a:t>Thematische</a:t>
                      </a:r>
                      <a:r>
                        <a:rPr sz="1800" dirty="0">
                          <a:solidFill>
                            <a:srgbClr val="002D47"/>
                          </a:solidFill>
                          <a:latin typeface="Aptos"/>
                        </a:rPr>
                        <a:t> </a:t>
                      </a:r>
                      <a:r>
                        <a:rPr sz="1800" dirty="0" err="1">
                          <a:solidFill>
                            <a:srgbClr val="002D47"/>
                          </a:solidFill>
                          <a:latin typeface="Aptos"/>
                        </a:rPr>
                        <a:t>Konsistenz</a:t>
                      </a:r>
                      <a:endParaRPr sz="1800" dirty="0">
                        <a:solidFill>
                          <a:srgbClr val="002D47"/>
                        </a:solidFill>
                        <a:latin typeface="Aptos"/>
                      </a:endParaRPr>
                    </a:p>
                  </a:txBody>
                  <a:tcPr marL="228600" marR="182880" marT="164592" marB="10972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51408" y="5557520"/>
            <a:ext cx="10497312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70818C"/>
                </a:solidFill>
                <a:latin typeface="Aptos"/>
              </a:rPr>
              <a:t>Insgesamt 27 Indikatoren, jeder mit Herleitung aus Standard, Konvention, Literatur oder Interview.</a:t>
            </a:r>
          </a:p>
        </p:txBody>
      </p:sp>
      <p:sp>
        <p:nvSpPr>
          <p:cNvPr id="9" name="Datumsplatzhalter 3">
            <a:extLst>
              <a:ext uri="{FF2B5EF4-FFF2-40B4-BE49-F238E27FC236}">
                <a16:creationId xmlns:a16="http://schemas.microsoft.com/office/drawing/2014/main" id="{E342F399-BB0E-14F8-4EA4-417A6ABA9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14. September 2026</a:t>
            </a:r>
          </a:p>
        </p:txBody>
      </p:sp>
      <p:sp>
        <p:nvSpPr>
          <p:cNvPr id="10" name="Fußzeilenplatzhalter 4">
            <a:extLst>
              <a:ext uri="{FF2B5EF4-FFF2-40B4-BE49-F238E27FC236}">
                <a16:creationId xmlns:a16="http://schemas.microsoft.com/office/drawing/2014/main" id="{261C2C29-9A68-ADDC-AC07-C28CDE9EC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 E I T E N B A U</a:t>
            </a:r>
            <a:endParaRPr lang="de-DE"/>
          </a:p>
        </p:txBody>
      </p:sp>
      <p:sp>
        <p:nvSpPr>
          <p:cNvPr id="11" name="Foliennummernplatzhalter 5">
            <a:extLst>
              <a:ext uri="{FF2B5EF4-FFF2-40B4-BE49-F238E27FC236}">
                <a16:creationId xmlns:a16="http://schemas.microsoft.com/office/drawing/2014/main" id="{5BB6EE48-E9AC-A61E-4970-A74A57378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Vier Prinzipien des Messmodells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243584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2D47"/>
                </a:solidFill>
                <a:latin typeface="Aptos Display"/>
              </a:rPr>
              <a:t>BEWERTUNGSLOGIK</a:t>
            </a:r>
          </a:p>
        </p:txBody>
      </p:sp>
      <p:sp>
        <p:nvSpPr>
          <p:cNvPr id="7" name="Rectangle 6"/>
          <p:cNvSpPr/>
          <p:nvPr/>
        </p:nvSpPr>
        <p:spPr>
          <a:xfrm>
            <a:off x="5961888" y="1682496"/>
            <a:ext cx="14630" cy="4133087"/>
          </a:xfrm>
          <a:prstGeom prst="rect">
            <a:avLst/>
          </a:prstGeom>
          <a:solidFill>
            <a:srgbClr val="708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41248" y="3767328"/>
            <a:ext cx="10515600" cy="14630"/>
          </a:xfrm>
          <a:prstGeom prst="rect">
            <a:avLst/>
          </a:prstGeom>
          <a:solidFill>
            <a:srgbClr val="708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" y="1755648"/>
            <a:ext cx="64008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FF00"/>
                </a:solidFill>
                <a:latin typeface="Aptos Display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755648"/>
            <a:ext cx="41605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02D47"/>
                </a:solidFill>
                <a:latin typeface="Aptos Display"/>
              </a:rPr>
              <a:t>Ternär vs. graduell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286000"/>
            <a:ext cx="4251960" cy="69128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002D47"/>
                </a:solidFill>
                <a:latin typeface="Aptos"/>
              </a:rPr>
              <a:t>Diskrete Stufen versus kontinuierlicher Erfüllungsgrad von 0 bis 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91072" y="1755648"/>
            <a:ext cx="64008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FF00"/>
                </a:solidFill>
                <a:latin typeface="Aptos Display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95744" y="1755648"/>
            <a:ext cx="41605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02D47"/>
                </a:solidFill>
                <a:latin typeface="Aptos Display"/>
              </a:rPr>
              <a:t>Mittelung über Distributionen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95744" y="2286000"/>
            <a:ext cx="4251960" cy="662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0" dirty="0">
                <a:solidFill>
                  <a:srgbClr val="002D47"/>
                </a:solidFill>
                <a:latin typeface="Aptos"/>
              </a:rPr>
              <a:t>Statt Best-Distribution-</a:t>
            </a:r>
            <a:r>
              <a:rPr sz="1700" b="0" dirty="0" err="1">
                <a:solidFill>
                  <a:srgbClr val="002D47"/>
                </a:solidFill>
                <a:latin typeface="Aptos"/>
              </a:rPr>
              <a:t>Prinzip</a:t>
            </a:r>
            <a:r>
              <a:rPr sz="1700" b="0" dirty="0">
                <a:solidFill>
                  <a:srgbClr val="002D47"/>
                </a:solidFill>
                <a:latin typeface="Aptos"/>
              </a:rPr>
              <a:t>: </a:t>
            </a:r>
            <a:r>
              <a:rPr sz="1700" b="0" dirty="0" err="1">
                <a:solidFill>
                  <a:srgbClr val="002D47"/>
                </a:solidFill>
                <a:latin typeface="Aptos"/>
              </a:rPr>
              <a:t>Jede</a:t>
            </a:r>
            <a:r>
              <a:rPr sz="1700" b="0" dirty="0">
                <a:solidFill>
                  <a:srgbClr val="002D47"/>
                </a:solidFill>
                <a:latin typeface="Aptos"/>
              </a:rPr>
              <a:t> </a:t>
            </a:r>
            <a:r>
              <a:rPr sz="1700" b="0" dirty="0" err="1">
                <a:solidFill>
                  <a:srgbClr val="002D47"/>
                </a:solidFill>
                <a:latin typeface="Aptos"/>
              </a:rPr>
              <a:t>defekte</a:t>
            </a:r>
            <a:r>
              <a:rPr sz="1700" b="0" dirty="0">
                <a:solidFill>
                  <a:srgbClr val="002D47"/>
                </a:solidFill>
                <a:latin typeface="Aptos"/>
              </a:rPr>
              <a:t> Distribution </a:t>
            </a:r>
            <a:r>
              <a:rPr sz="1700" b="0" dirty="0" err="1">
                <a:solidFill>
                  <a:srgbClr val="002D47"/>
                </a:solidFill>
                <a:latin typeface="Aptos"/>
              </a:rPr>
              <a:t>wird</a:t>
            </a:r>
            <a:r>
              <a:rPr sz="1700" b="0" dirty="0">
                <a:solidFill>
                  <a:srgbClr val="002D47"/>
                </a:solidFill>
                <a:latin typeface="Aptos"/>
              </a:rPr>
              <a:t> </a:t>
            </a:r>
            <a:r>
              <a:rPr sz="1700" b="0" dirty="0" err="1">
                <a:solidFill>
                  <a:srgbClr val="002D47"/>
                </a:solidFill>
                <a:latin typeface="Aptos"/>
              </a:rPr>
              <a:t>sichtbar</a:t>
            </a:r>
            <a:r>
              <a:rPr sz="1700" b="0" dirty="0">
                <a:solidFill>
                  <a:srgbClr val="002D47"/>
                </a:solidFill>
                <a:latin typeface="Aptos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4041648"/>
            <a:ext cx="64008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FF00"/>
                </a:solidFill>
                <a:latin typeface="Aptos Display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041648"/>
            <a:ext cx="41605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 dirty="0">
                <a:solidFill>
                  <a:srgbClr val="002D47"/>
                </a:solidFill>
                <a:latin typeface="Aptos Display"/>
              </a:rPr>
              <a:t>Malus-</a:t>
            </a:r>
            <a:r>
              <a:rPr sz="2200" b="1" dirty="0" err="1">
                <a:solidFill>
                  <a:srgbClr val="002D47"/>
                </a:solidFill>
                <a:latin typeface="Aptos Display"/>
              </a:rPr>
              <a:t>Prinzip</a:t>
            </a:r>
            <a:endParaRPr sz="2200" b="1" dirty="0">
              <a:solidFill>
                <a:srgbClr val="002D47"/>
              </a:solidFill>
              <a:latin typeface="Aptos Display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645920" y="4572000"/>
            <a:ext cx="4251960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0" dirty="0" err="1">
                <a:solidFill>
                  <a:srgbClr val="002D47"/>
                </a:solidFill>
                <a:latin typeface="Aptos"/>
              </a:rPr>
              <a:t>Defekte</a:t>
            </a:r>
            <a:r>
              <a:rPr sz="1700" b="0" dirty="0">
                <a:solidFill>
                  <a:srgbClr val="002D47"/>
                </a:solidFill>
                <a:latin typeface="Aptos"/>
              </a:rPr>
              <a:t> URL </a:t>
            </a:r>
            <a:r>
              <a:rPr sz="1700" b="0" dirty="0" err="1">
                <a:solidFill>
                  <a:srgbClr val="002D47"/>
                </a:solidFill>
                <a:latin typeface="Aptos"/>
              </a:rPr>
              <a:t>oder</a:t>
            </a:r>
            <a:r>
              <a:rPr sz="1700" b="0" dirty="0">
                <a:solidFill>
                  <a:srgbClr val="002D47"/>
                </a:solidFill>
                <a:latin typeface="Aptos"/>
              </a:rPr>
              <a:t> </a:t>
            </a:r>
            <a:r>
              <a:rPr sz="1700" b="0" dirty="0" err="1">
                <a:solidFill>
                  <a:srgbClr val="002D47"/>
                </a:solidFill>
                <a:latin typeface="Aptos"/>
              </a:rPr>
              <a:t>unklare</a:t>
            </a:r>
            <a:r>
              <a:rPr sz="1700" b="0" dirty="0">
                <a:solidFill>
                  <a:srgbClr val="002D47"/>
                </a:solidFill>
                <a:latin typeface="Aptos"/>
              </a:rPr>
              <a:t> </a:t>
            </a:r>
            <a:r>
              <a:rPr sz="1700" b="0" dirty="0" err="1">
                <a:solidFill>
                  <a:srgbClr val="002D47"/>
                </a:solidFill>
                <a:latin typeface="Aptos"/>
              </a:rPr>
              <a:t>Lizenz</a:t>
            </a:r>
            <a:r>
              <a:rPr sz="1700" b="0" dirty="0">
                <a:solidFill>
                  <a:srgbClr val="002D47"/>
                </a:solidFill>
                <a:latin typeface="Aptos"/>
              </a:rPr>
              <a:t> </a:t>
            </a:r>
            <a:r>
              <a:rPr sz="1700" b="0" dirty="0" err="1">
                <a:solidFill>
                  <a:srgbClr val="002D47"/>
                </a:solidFill>
                <a:latin typeface="Aptos"/>
              </a:rPr>
              <a:t>werden</a:t>
            </a:r>
            <a:r>
              <a:rPr sz="1700" b="0" dirty="0">
                <a:solidFill>
                  <a:srgbClr val="002D47"/>
                </a:solidFill>
                <a:latin typeface="Aptos"/>
              </a:rPr>
              <a:t> </a:t>
            </a:r>
            <a:r>
              <a:rPr sz="1700" b="0" dirty="0" err="1">
                <a:solidFill>
                  <a:srgbClr val="002D47"/>
                </a:solidFill>
                <a:latin typeface="Aptos"/>
              </a:rPr>
              <a:t>negativ</a:t>
            </a:r>
            <a:r>
              <a:rPr sz="1700" b="0" dirty="0">
                <a:solidFill>
                  <a:srgbClr val="002D47"/>
                </a:solidFill>
                <a:latin typeface="Aptos"/>
              </a:rPr>
              <a:t> </a:t>
            </a:r>
            <a:r>
              <a:rPr sz="1700" b="0" dirty="0" err="1">
                <a:solidFill>
                  <a:srgbClr val="002D47"/>
                </a:solidFill>
                <a:latin typeface="Aptos"/>
              </a:rPr>
              <a:t>statt</a:t>
            </a:r>
            <a:r>
              <a:rPr sz="1700" b="0" dirty="0">
                <a:solidFill>
                  <a:srgbClr val="002D47"/>
                </a:solidFill>
                <a:latin typeface="Aptos"/>
              </a:rPr>
              <a:t> </a:t>
            </a:r>
            <a:r>
              <a:rPr sz="1700" b="0" dirty="0" err="1">
                <a:solidFill>
                  <a:srgbClr val="002D47"/>
                </a:solidFill>
                <a:latin typeface="Aptos"/>
              </a:rPr>
              <a:t>mit</a:t>
            </a:r>
            <a:r>
              <a:rPr sz="1700" b="0" dirty="0">
                <a:solidFill>
                  <a:srgbClr val="002D47"/>
                </a:solidFill>
                <a:latin typeface="Aptos"/>
              </a:rPr>
              <a:t> null </a:t>
            </a:r>
            <a:r>
              <a:rPr sz="1700" b="0" dirty="0" err="1">
                <a:solidFill>
                  <a:srgbClr val="002D47"/>
                </a:solidFill>
                <a:latin typeface="Aptos"/>
              </a:rPr>
              <a:t>bewertet</a:t>
            </a:r>
            <a:r>
              <a:rPr sz="1700" b="0" dirty="0">
                <a:solidFill>
                  <a:srgbClr val="002D47"/>
                </a:solidFill>
                <a:latin typeface="Aptos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1072" y="4041648"/>
            <a:ext cx="64008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FF00"/>
                </a:solidFill>
                <a:latin typeface="Aptos Display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95744" y="4041648"/>
            <a:ext cx="41605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02D47"/>
                </a:solidFill>
                <a:latin typeface="Aptos Display"/>
              </a:rPr>
              <a:t>Nicht anwendbar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95744" y="4572000"/>
            <a:ext cx="4251960" cy="5926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0" dirty="0" err="1">
                <a:solidFill>
                  <a:srgbClr val="002D47"/>
                </a:solidFill>
                <a:latin typeface="Aptos"/>
              </a:rPr>
              <a:t>Fachlich</a:t>
            </a:r>
            <a:r>
              <a:rPr sz="1700" b="0" dirty="0">
                <a:solidFill>
                  <a:srgbClr val="002D47"/>
                </a:solidFill>
                <a:latin typeface="Aptos"/>
              </a:rPr>
              <a:t> nicht </a:t>
            </a:r>
            <a:r>
              <a:rPr sz="1700" b="0" dirty="0" err="1">
                <a:solidFill>
                  <a:srgbClr val="002D47"/>
                </a:solidFill>
                <a:latin typeface="Aptos"/>
              </a:rPr>
              <a:t>zutreffende</a:t>
            </a:r>
            <a:r>
              <a:rPr sz="1700" b="0" dirty="0">
                <a:solidFill>
                  <a:srgbClr val="002D47"/>
                </a:solidFill>
                <a:latin typeface="Aptos"/>
              </a:rPr>
              <a:t> </a:t>
            </a:r>
            <a:r>
              <a:rPr sz="1700" b="0" dirty="0" err="1">
                <a:solidFill>
                  <a:srgbClr val="002D47"/>
                </a:solidFill>
                <a:latin typeface="Aptos"/>
              </a:rPr>
              <a:t>Kriterien</a:t>
            </a:r>
            <a:r>
              <a:rPr sz="1700" b="0" dirty="0">
                <a:solidFill>
                  <a:srgbClr val="002D47"/>
                </a:solidFill>
                <a:latin typeface="Aptos"/>
              </a:rPr>
              <a:t> </a:t>
            </a:r>
            <a:r>
              <a:rPr sz="1700" b="0" dirty="0" err="1">
                <a:solidFill>
                  <a:srgbClr val="002D47"/>
                </a:solidFill>
                <a:latin typeface="Aptos"/>
              </a:rPr>
              <a:t>werden</a:t>
            </a:r>
            <a:r>
              <a:rPr sz="1700" b="0" dirty="0">
                <a:solidFill>
                  <a:srgbClr val="002D47"/>
                </a:solidFill>
                <a:latin typeface="Aptos"/>
              </a:rPr>
              <a:t> neutral </a:t>
            </a:r>
            <a:r>
              <a:rPr sz="1700" b="0" dirty="0" err="1">
                <a:solidFill>
                  <a:srgbClr val="002D47"/>
                </a:solidFill>
                <a:latin typeface="Aptos"/>
              </a:rPr>
              <a:t>übersprungen</a:t>
            </a:r>
            <a:r>
              <a:rPr sz="1700" b="0" dirty="0">
                <a:solidFill>
                  <a:srgbClr val="002D47"/>
                </a:solidFill>
                <a:latin typeface="Aptos"/>
              </a:rPr>
              <a:t>.</a:t>
            </a:r>
          </a:p>
        </p:txBody>
      </p:sp>
      <p:sp>
        <p:nvSpPr>
          <p:cNvPr id="21" name="Datumsplatzhalter 3">
            <a:extLst>
              <a:ext uri="{FF2B5EF4-FFF2-40B4-BE49-F238E27FC236}">
                <a16:creationId xmlns:a16="http://schemas.microsoft.com/office/drawing/2014/main" id="{E342F399-BB0E-14F8-4EA4-417A6ABA9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14. September 2026</a:t>
            </a:r>
          </a:p>
        </p:txBody>
      </p:sp>
      <p:sp>
        <p:nvSpPr>
          <p:cNvPr id="22" name="Fußzeilenplatzhalter 4">
            <a:extLst>
              <a:ext uri="{FF2B5EF4-FFF2-40B4-BE49-F238E27FC236}">
                <a16:creationId xmlns:a16="http://schemas.microsoft.com/office/drawing/2014/main" id="{261C2C29-9A68-ADDC-AC07-C28CDE9EC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 E I T E N B A U</a:t>
            </a:r>
            <a:endParaRPr lang="de-DE"/>
          </a:p>
        </p:txBody>
      </p:sp>
      <p:sp>
        <p:nvSpPr>
          <p:cNvPr id="23" name="Foliennummernplatzhalter 5">
            <a:extLst>
              <a:ext uri="{FF2B5EF4-FFF2-40B4-BE49-F238E27FC236}">
                <a16:creationId xmlns:a16="http://schemas.microsoft.com/office/drawing/2014/main" id="{5BB6EE48-E9AC-A61E-4970-A74A57378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65760"/>
            <a:ext cx="10972800" cy="539496"/>
          </a:xfrm>
        </p:spPr>
        <p:txBody>
          <a:bodyPr>
            <a:normAutofit fontScale="90000"/>
          </a:bodyPr>
          <a:lstStyle/>
          <a:p>
            <a:r>
              <a:rPr sz="3500" dirty="0" err="1"/>
              <a:t>Sprachmodellgestützte</a:t>
            </a:r>
            <a:r>
              <a:rPr sz="3500" dirty="0"/>
              <a:t> </a:t>
            </a:r>
            <a:r>
              <a:rPr sz="3500" dirty="0" err="1"/>
              <a:t>Bewertung</a:t>
            </a:r>
            <a:r>
              <a:rPr lang="en-US" sz="3500" dirty="0"/>
              <a:t> der</a:t>
            </a:r>
            <a:endParaRPr sz="3500" dirty="0"/>
          </a:p>
        </p:txBody>
      </p:sp>
      <p:sp>
        <p:nvSpPr>
          <p:cNvPr id="6" name="TextBox 5"/>
          <p:cNvSpPr txBox="1"/>
          <p:nvPr/>
        </p:nvSpPr>
        <p:spPr>
          <a:xfrm>
            <a:off x="7343464" y="337913"/>
            <a:ext cx="2880360" cy="6683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600" b="1" dirty="0" err="1">
                <a:solidFill>
                  <a:schemeClr val="accent3"/>
                </a:solidFill>
                <a:latin typeface="Aptos Display"/>
              </a:rPr>
              <a:t>Aussagekraft</a:t>
            </a:r>
            <a:endParaRPr sz="3600" b="1" dirty="0">
              <a:solidFill>
                <a:schemeClr val="accent3"/>
              </a:solidFill>
              <a:latin typeface="Aptos Display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59536" y="2329434"/>
            <a:ext cx="2862072" cy="50292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9536" y="1243584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 dirty="0">
                <a:solidFill>
                  <a:srgbClr val="002D47"/>
                </a:solidFill>
                <a:latin typeface="Aptos Display"/>
              </a:rPr>
              <a:t>MODELL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1685925"/>
            <a:ext cx="2834640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dirty="0">
                <a:solidFill>
                  <a:srgbClr val="002D47"/>
                </a:solidFill>
                <a:latin typeface="Aptos Display"/>
              </a:rPr>
              <a:t>GPT-5.5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633472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 dirty="0">
                <a:solidFill>
                  <a:srgbClr val="002D47"/>
                </a:solidFill>
                <a:latin typeface="Aptos Display"/>
              </a:rPr>
              <a:t>ARCHITEKTURPRINZIP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3054096"/>
            <a:ext cx="2999231" cy="170965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dirty="0">
                <a:solidFill>
                  <a:srgbClr val="002D47"/>
                </a:solidFill>
                <a:latin typeface="Aptos"/>
              </a:rPr>
              <a:t>Ein </a:t>
            </a:r>
            <a:r>
              <a:rPr sz="1700" b="1" dirty="0" err="1">
                <a:solidFill>
                  <a:srgbClr val="002D47"/>
                </a:solidFill>
                <a:latin typeface="Aptos"/>
              </a:rPr>
              <a:t>Aufruf</a:t>
            </a:r>
            <a:r>
              <a:rPr sz="1700" b="1" dirty="0">
                <a:solidFill>
                  <a:srgbClr val="002D47"/>
                </a:solidFill>
                <a:latin typeface="Aptos"/>
              </a:rPr>
              <a:t> </a:t>
            </a:r>
            <a:r>
              <a:rPr sz="1700" b="1" dirty="0" err="1">
                <a:solidFill>
                  <a:srgbClr val="002D47"/>
                </a:solidFill>
                <a:latin typeface="Aptos"/>
              </a:rPr>
              <a:t>statt</a:t>
            </a:r>
            <a:r>
              <a:rPr lang="en-US" sz="1700" b="1" dirty="0">
                <a:solidFill>
                  <a:srgbClr val="002D47"/>
                </a:solidFill>
                <a:latin typeface="Aptos"/>
              </a:rPr>
              <a:t> </a:t>
            </a:r>
            <a:r>
              <a:rPr sz="1700" b="1" dirty="0" err="1">
                <a:solidFill>
                  <a:srgbClr val="002D47"/>
                </a:solidFill>
                <a:latin typeface="Aptos"/>
              </a:rPr>
              <a:t>Agentenkette</a:t>
            </a:r>
            <a:r>
              <a:rPr sz="1700" b="1" dirty="0">
                <a:solidFill>
                  <a:srgbClr val="002D47"/>
                </a:solidFill>
                <a:latin typeface="Aptos"/>
              </a:rPr>
              <a:t>:</a:t>
            </a:r>
            <a:endParaRPr lang="en-US" sz="1700" b="1" dirty="0">
              <a:solidFill>
                <a:srgbClr val="002D47"/>
              </a:solidFill>
              <a:latin typeface="Aptos"/>
            </a:endParaRPr>
          </a:p>
          <a:p>
            <a:pPr algn="l">
              <a:lnSpc>
                <a:spcPct val="100000"/>
              </a:lnSpc>
            </a:pPr>
            <a:endParaRPr lang="en-US" sz="1700" b="1" dirty="0">
              <a:solidFill>
                <a:srgbClr val="002D47"/>
              </a:solidFill>
              <a:latin typeface="Aptos"/>
            </a:endParaRP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1700" b="0" dirty="0" err="1">
                <a:solidFill>
                  <a:srgbClr val="002D47"/>
                </a:solidFill>
                <a:latin typeface="Aptos"/>
              </a:rPr>
              <a:t>weniger</a:t>
            </a:r>
            <a:r>
              <a:rPr sz="1700" b="0" dirty="0">
                <a:solidFill>
                  <a:srgbClr val="002D47"/>
                </a:solidFill>
                <a:latin typeface="Aptos"/>
              </a:rPr>
              <a:t> Kosten</a:t>
            </a:r>
            <a:endParaRPr lang="en-US" sz="1700" b="0" dirty="0">
              <a:solidFill>
                <a:srgbClr val="002D47"/>
              </a:solidFill>
              <a:latin typeface="Aptos"/>
            </a:endParaRP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1700" b="0" dirty="0" err="1">
                <a:solidFill>
                  <a:srgbClr val="002D47"/>
                </a:solidFill>
                <a:latin typeface="Aptos"/>
              </a:rPr>
              <a:t>höhere</a:t>
            </a:r>
            <a:r>
              <a:rPr sz="1700" b="0" dirty="0">
                <a:solidFill>
                  <a:srgbClr val="002D47"/>
                </a:solidFill>
                <a:latin typeface="Aptos"/>
              </a:rPr>
              <a:t> </a:t>
            </a:r>
            <a:r>
              <a:rPr sz="1700" b="0" dirty="0" err="1">
                <a:solidFill>
                  <a:srgbClr val="002D47"/>
                </a:solidFill>
                <a:latin typeface="Aptos"/>
              </a:rPr>
              <a:t>Konsistenz</a:t>
            </a:r>
            <a:r>
              <a:rPr sz="1700" b="0" dirty="0">
                <a:solidFill>
                  <a:srgbClr val="002D47"/>
                </a:solidFill>
                <a:latin typeface="Aptos"/>
              </a:rPr>
              <a:t> </a:t>
            </a:r>
            <a:endParaRPr lang="en-US" sz="1700" b="0" dirty="0">
              <a:solidFill>
                <a:srgbClr val="002D47"/>
              </a:solidFill>
              <a:latin typeface="Aptos"/>
            </a:endParaRP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1700" b="0" dirty="0" err="1">
                <a:solidFill>
                  <a:srgbClr val="002D47"/>
                </a:solidFill>
                <a:latin typeface="Aptos"/>
              </a:rPr>
              <a:t>bessere</a:t>
            </a:r>
            <a:r>
              <a:rPr sz="1700" b="0" dirty="0">
                <a:solidFill>
                  <a:srgbClr val="002D47"/>
                </a:solidFill>
                <a:latin typeface="Aptos"/>
              </a:rPr>
              <a:t> </a:t>
            </a:r>
            <a:r>
              <a:rPr sz="1700" b="0" dirty="0" err="1">
                <a:solidFill>
                  <a:srgbClr val="002D47"/>
                </a:solidFill>
                <a:latin typeface="Aptos"/>
              </a:rPr>
              <a:t>Nachvollziehbarkeit</a:t>
            </a:r>
            <a:r>
              <a:rPr sz="1700" b="0" dirty="0">
                <a:solidFill>
                  <a:srgbClr val="002D47"/>
                </a:solidFill>
                <a:latin typeface="Aptos"/>
              </a:rPr>
              <a:t>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77639" y="1243584"/>
            <a:ext cx="16459" cy="4626864"/>
          </a:xfrm>
          <a:prstGeom prst="rect">
            <a:avLst/>
          </a:prstGeom>
          <a:solidFill>
            <a:srgbClr val="708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70832" y="1243584"/>
            <a:ext cx="68580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2D47"/>
                </a:solidFill>
                <a:latin typeface="Aptos Display"/>
              </a:rPr>
              <a:t>STRUKTURIERTE AUSGABE — FESTE REIHENFOLGE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0832" y="1664208"/>
            <a:ext cx="681228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02D47"/>
                </a:solidFill>
                <a:latin typeface="Aptos"/>
              </a:rPr>
              <a:t>findings  →  reasoning  →  applicable  →  score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70832" y="2331720"/>
            <a:ext cx="6812280" cy="50292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70832" y="2633472"/>
            <a:ext cx="681228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2D47"/>
                </a:solidFill>
                <a:latin typeface="Aptos Display"/>
              </a:rPr>
              <a:t>SECHS KRITERIEN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0832" y="3054096"/>
            <a:ext cx="3657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700" b="1">
                <a:solidFill>
                  <a:srgbClr val="00FF00"/>
                </a:solidFill>
                <a:latin typeface="Aptos Display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73752" y="3054096"/>
            <a:ext cx="2770632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002D47"/>
                </a:solidFill>
                <a:latin typeface="Aptos"/>
              </a:rPr>
              <a:t>Aussagekraft Titel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70832" y="3803904"/>
            <a:ext cx="3657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700" b="1">
                <a:solidFill>
                  <a:srgbClr val="00FF00"/>
                </a:solidFill>
                <a:latin typeface="Aptos Display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73752" y="3803904"/>
            <a:ext cx="2770632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002D47"/>
                </a:solidFill>
                <a:latin typeface="Aptos"/>
              </a:rPr>
              <a:t>Aussagekraft Beschreibung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70832" y="4553712"/>
            <a:ext cx="3657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700" b="1">
                <a:solidFill>
                  <a:srgbClr val="00FF00"/>
                </a:solidFill>
                <a:latin typeface="Aptos Display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73752" y="4553712"/>
            <a:ext cx="2770632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50" b="0" dirty="0" err="1">
                <a:solidFill>
                  <a:srgbClr val="002D47"/>
                </a:solidFill>
                <a:latin typeface="Aptos"/>
              </a:rPr>
              <a:t>Kohärenz</a:t>
            </a:r>
            <a:r>
              <a:rPr sz="1650" b="0" dirty="0">
                <a:solidFill>
                  <a:srgbClr val="002D47"/>
                </a:solidFill>
                <a:latin typeface="Aptos"/>
              </a:rPr>
              <a:t> Titel/</a:t>
            </a:r>
            <a:r>
              <a:rPr sz="1650" b="0" dirty="0" err="1">
                <a:solidFill>
                  <a:srgbClr val="002D47"/>
                </a:solidFill>
                <a:latin typeface="Aptos"/>
              </a:rPr>
              <a:t>Beschreibung</a:t>
            </a:r>
            <a:endParaRPr sz="1650" b="0" dirty="0">
              <a:solidFill>
                <a:srgbClr val="002D47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827264" y="3054096"/>
            <a:ext cx="3657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700" b="1">
                <a:solidFill>
                  <a:srgbClr val="00FF00"/>
                </a:solidFill>
                <a:latin typeface="Aptos Display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0184" y="3054096"/>
            <a:ext cx="2770632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002D47"/>
                </a:solidFill>
                <a:latin typeface="Aptos"/>
              </a:rPr>
              <a:t>Qualität Schlagwörter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27264" y="3803904"/>
            <a:ext cx="3657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700" b="1">
                <a:solidFill>
                  <a:srgbClr val="00FF00"/>
                </a:solidFill>
                <a:latin typeface="Aptos Display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0184" y="3803904"/>
            <a:ext cx="2770632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002D47"/>
                </a:solidFill>
                <a:latin typeface="Aptos"/>
              </a:rPr>
              <a:t>Thematische Konsistenz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27264" y="4553712"/>
            <a:ext cx="3657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700" b="1">
                <a:solidFill>
                  <a:srgbClr val="00FF00"/>
                </a:solidFill>
                <a:latin typeface="Aptos Display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0184" y="4553712"/>
            <a:ext cx="2770632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002D47"/>
                </a:solidFill>
                <a:latin typeface="Aptos"/>
              </a:rPr>
              <a:t>Kontextuelle Qualifizierer</a:t>
            </a:r>
          </a:p>
        </p:txBody>
      </p:sp>
      <p:sp>
        <p:nvSpPr>
          <p:cNvPr id="31" name="Datumsplatzhalter 3">
            <a:extLst>
              <a:ext uri="{FF2B5EF4-FFF2-40B4-BE49-F238E27FC236}">
                <a16:creationId xmlns:a16="http://schemas.microsoft.com/office/drawing/2014/main" id="{E342F399-BB0E-14F8-4EA4-417A6ABA9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14. September 2026</a:t>
            </a:r>
          </a:p>
        </p:txBody>
      </p:sp>
      <p:sp>
        <p:nvSpPr>
          <p:cNvPr id="32" name="Fußzeilenplatzhalter 4">
            <a:extLst>
              <a:ext uri="{FF2B5EF4-FFF2-40B4-BE49-F238E27FC236}">
                <a16:creationId xmlns:a16="http://schemas.microsoft.com/office/drawing/2014/main" id="{261C2C29-9A68-ADDC-AC07-C28CDE9EC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 E I T E N B A U</a:t>
            </a:r>
            <a:endParaRPr lang="de-DE"/>
          </a:p>
        </p:txBody>
      </p:sp>
      <p:sp>
        <p:nvSpPr>
          <p:cNvPr id="33" name="Foliennummernplatzhalter 5">
            <a:extLst>
              <a:ext uri="{FF2B5EF4-FFF2-40B4-BE49-F238E27FC236}">
                <a16:creationId xmlns:a16="http://schemas.microsoft.com/office/drawing/2014/main" id="{5BB6EE48-E9AC-A61E-4970-A74A57378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 err="1"/>
              <a:t>Verarbeitungspipeline</a:t>
            </a:r>
            <a:endParaRPr dirty="0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9391D2C8-E1BD-E747-4A28-D3740845A533}"/>
              </a:ext>
            </a:extLst>
          </p:cNvPr>
          <p:cNvSpPr/>
          <p:nvPr/>
        </p:nvSpPr>
        <p:spPr>
          <a:xfrm>
            <a:off x="841248" y="1188720"/>
            <a:ext cx="3611880" cy="45262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BC2E6939-DAEA-3993-05DF-B4845D680A77}"/>
              </a:ext>
            </a:extLst>
          </p:cNvPr>
          <p:cNvSpPr/>
          <p:nvPr/>
        </p:nvSpPr>
        <p:spPr>
          <a:xfrm>
            <a:off x="841248" y="1188720"/>
            <a:ext cx="82296" cy="45262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16B3AB4E-B8BC-0F24-2462-E45BD80770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179576" y="1417320"/>
            <a:ext cx="2889504" cy="37934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4663440" y="1188720"/>
            <a:ext cx="6675120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4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109728" rIns="201168" bIns="91440" rtlCol="0" anchor="ctr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FF00"/>
                </a:solidFill>
                <a:latin typeface="Aptos"/>
              </a:rPr>
              <a:t>Technologie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002B3D"/>
                </a:solidFill>
                <a:latin typeface="Aptos"/>
              </a:rPr>
              <a:t>Python 3.12 · rdflib (RDF) · Pydantic (strukturierte LLM-Ausgabe) · LangChain (Modellanbindung) · Hydra (Konfiguration)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2825496"/>
            <a:ext cx="6675120" cy="1179576"/>
          </a:xfrm>
          <a:prstGeom prst="rect">
            <a:avLst/>
          </a:prstGeom>
          <a:solidFill>
            <a:srgbClr val="FFFFFF"/>
          </a:solidFill>
          <a:ln w="10160">
            <a:solidFill>
              <a:srgbClr val="D4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109728" rIns="201168" bIns="91440" rtlCol="0" anchor="ctr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FF00"/>
                </a:solidFill>
                <a:latin typeface="Aptos"/>
              </a:rPr>
              <a:t>Bedarfsgesteuert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002B3D"/>
                </a:solidFill>
                <a:latin typeface="Aptos"/>
              </a:rPr>
              <a:t>Netzabruf und Sprachmodellaufruf laufen nur, wenn ein aktiver Indikator sie tatsächlich benötigt.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63440" y="4142232"/>
            <a:ext cx="6675120" cy="1179576"/>
          </a:xfrm>
          <a:prstGeom prst="rect">
            <a:avLst/>
          </a:prstGeom>
          <a:solidFill>
            <a:srgbClr val="FFFFFF"/>
          </a:solidFill>
          <a:ln w="10160">
            <a:solidFill>
              <a:srgbClr val="D4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109728" rIns="201168" bIns="91440" rtlCol="0" anchor="ctr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FF00"/>
                </a:solidFill>
                <a:latin typeface="Aptos"/>
              </a:rPr>
              <a:t>Erweiterbar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002B3D"/>
                </a:solidFill>
                <a:latin typeface="Aptos"/>
              </a:rPr>
              <a:t>Neue Indikatoren registrieren sich selbst, keine Anpassung der Pipeline nötig.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5522976"/>
            <a:ext cx="667512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>
                <a:solidFill>
                  <a:srgbClr val="70818C"/>
                </a:solidFill>
                <a:latin typeface="Aptos"/>
              </a:rPr>
              <a:t>Drei externe Abhängigkeiten: Distributions-Endpunkte, Sprachmodell, SHACL-Validierungsdienst.</a:t>
            </a:r>
          </a:p>
        </p:txBody>
      </p:sp>
      <p:sp>
        <p:nvSpPr>
          <p:cNvPr id="18" name="Datumsplatzhalter 3">
            <a:extLst>
              <a:ext uri="{FF2B5EF4-FFF2-40B4-BE49-F238E27FC236}">
                <a16:creationId xmlns:a16="http://schemas.microsoft.com/office/drawing/2014/main" id="{E342F399-BB0E-14F8-4EA4-417A6ABA9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14. September 2026</a:t>
            </a:r>
          </a:p>
        </p:txBody>
      </p:sp>
      <p:sp>
        <p:nvSpPr>
          <p:cNvPr id="19" name="Fußzeilenplatzhalter 4">
            <a:extLst>
              <a:ext uri="{FF2B5EF4-FFF2-40B4-BE49-F238E27FC236}">
                <a16:creationId xmlns:a16="http://schemas.microsoft.com/office/drawing/2014/main" id="{261C2C29-9A68-ADDC-AC07-C28CDE9EC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S E I T E N B A U</a:t>
            </a:r>
            <a:endParaRPr lang="de-DE" dirty="0"/>
          </a:p>
        </p:txBody>
      </p:sp>
      <p:sp>
        <p:nvSpPr>
          <p:cNvPr id="20" name="Foliennummernplatzhalter 5">
            <a:extLst>
              <a:ext uri="{FF2B5EF4-FFF2-40B4-BE49-F238E27FC236}">
                <a16:creationId xmlns:a16="http://schemas.microsoft.com/office/drawing/2014/main" id="{5BB6EE48-E9AC-A61E-4970-A74A57378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Scoring &amp; Gewichtung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188720"/>
            <a:ext cx="1046988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2D47"/>
                </a:solidFill>
                <a:latin typeface="Aptos Display"/>
              </a:rPr>
              <a:t>ZWEI AGGREGATIONSSTUFEN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673352"/>
            <a:ext cx="59436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0FF00"/>
                </a:solidFill>
                <a:latin typeface="Aptos Display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4752" y="1674349"/>
            <a:ext cx="9418320" cy="93268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dirty="0" err="1">
                <a:solidFill>
                  <a:srgbClr val="002D47"/>
                </a:solidFill>
                <a:latin typeface="Aptos"/>
              </a:rPr>
              <a:t>Dimensionswert</a:t>
            </a:r>
            <a:r>
              <a:rPr sz="2100" b="0" dirty="0">
                <a:solidFill>
                  <a:srgbClr val="002D47"/>
                </a:solidFill>
                <a:latin typeface="Aptos"/>
              </a:rPr>
              <a:t> = </a:t>
            </a:r>
            <a:r>
              <a:rPr sz="2100" b="0" dirty="0" err="1">
                <a:solidFill>
                  <a:srgbClr val="002D47"/>
                </a:solidFill>
                <a:latin typeface="Aptos"/>
              </a:rPr>
              <a:t>gewichteter</a:t>
            </a:r>
            <a:r>
              <a:rPr sz="2100" b="0" dirty="0">
                <a:solidFill>
                  <a:srgbClr val="002D47"/>
                </a:solidFill>
                <a:latin typeface="Aptos"/>
              </a:rPr>
              <a:t> </a:t>
            </a:r>
            <a:r>
              <a:rPr sz="2100" b="0" dirty="0" err="1">
                <a:solidFill>
                  <a:srgbClr val="002D47"/>
                </a:solidFill>
                <a:latin typeface="Aptos"/>
              </a:rPr>
              <a:t>Mittelwert</a:t>
            </a:r>
            <a:r>
              <a:rPr sz="2100" b="0" dirty="0">
                <a:solidFill>
                  <a:srgbClr val="002D47"/>
                </a:solidFill>
                <a:latin typeface="Aptos"/>
              </a:rPr>
              <a:t> der </a:t>
            </a:r>
            <a:r>
              <a:rPr sz="2100" b="0" dirty="0" err="1">
                <a:solidFill>
                  <a:srgbClr val="002D47"/>
                </a:solidFill>
                <a:latin typeface="Aptos"/>
              </a:rPr>
              <a:t>Indikatorpunkte</a:t>
            </a:r>
            <a:endParaRPr sz="2100" b="0" dirty="0">
              <a:solidFill>
                <a:srgbClr val="002D47"/>
              </a:solidFill>
              <a:latin typeface="Aptos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dirty="0" err="1">
                <a:solidFill>
                  <a:srgbClr val="70818C"/>
                </a:solidFill>
                <a:latin typeface="Aptos"/>
              </a:rPr>
              <a:t>bei</a:t>
            </a:r>
            <a:r>
              <a:rPr sz="1500" b="0" dirty="0">
                <a:solidFill>
                  <a:srgbClr val="70818C"/>
                </a:solidFill>
                <a:latin typeface="Aptos"/>
              </a:rPr>
              <a:t> 0 </a:t>
            </a:r>
            <a:r>
              <a:rPr sz="1500" b="0" dirty="0" err="1">
                <a:solidFill>
                  <a:srgbClr val="70818C"/>
                </a:solidFill>
                <a:latin typeface="Aptos"/>
              </a:rPr>
              <a:t>nach</a:t>
            </a:r>
            <a:r>
              <a:rPr sz="1500" b="0" dirty="0">
                <a:solidFill>
                  <a:srgbClr val="70818C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70818C"/>
                </a:solidFill>
                <a:latin typeface="Aptos"/>
              </a:rPr>
              <a:t>unten</a:t>
            </a:r>
            <a:r>
              <a:rPr sz="1500" b="0" dirty="0">
                <a:solidFill>
                  <a:srgbClr val="70818C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70818C"/>
                </a:solidFill>
                <a:latin typeface="Aptos"/>
              </a:rPr>
              <a:t>begrenzt</a:t>
            </a:r>
            <a:endParaRPr sz="1500" b="0" dirty="0">
              <a:solidFill>
                <a:srgbClr val="70818C"/>
              </a:solidFill>
              <a:latin typeface="Apto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41248" y="2679192"/>
            <a:ext cx="10497312" cy="10972"/>
          </a:xfrm>
          <a:prstGeom prst="rect">
            <a:avLst/>
          </a:prstGeom>
          <a:solidFill>
            <a:srgbClr val="708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2999232"/>
            <a:ext cx="59436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0FF00"/>
                </a:solidFill>
                <a:latin typeface="Aptos Display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4752" y="3010204"/>
            <a:ext cx="9418320" cy="93268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dirty="0" err="1">
                <a:solidFill>
                  <a:srgbClr val="002D47"/>
                </a:solidFill>
                <a:latin typeface="Aptos"/>
              </a:rPr>
              <a:t>Gesamtscore</a:t>
            </a:r>
            <a:r>
              <a:rPr sz="2100" b="0" dirty="0">
                <a:solidFill>
                  <a:srgbClr val="002D47"/>
                </a:solidFill>
                <a:latin typeface="Aptos"/>
              </a:rPr>
              <a:t> = </a:t>
            </a:r>
            <a:r>
              <a:rPr sz="2100" b="0" dirty="0" err="1">
                <a:solidFill>
                  <a:srgbClr val="002D47"/>
                </a:solidFill>
                <a:latin typeface="Aptos"/>
              </a:rPr>
              <a:t>gewichteter</a:t>
            </a:r>
            <a:r>
              <a:rPr sz="2100" b="0" dirty="0">
                <a:solidFill>
                  <a:srgbClr val="002D47"/>
                </a:solidFill>
                <a:latin typeface="Aptos"/>
              </a:rPr>
              <a:t> </a:t>
            </a:r>
            <a:r>
              <a:rPr sz="2100" b="0" dirty="0" err="1">
                <a:solidFill>
                  <a:srgbClr val="002D47"/>
                </a:solidFill>
                <a:latin typeface="Aptos"/>
              </a:rPr>
              <a:t>Mittelwert</a:t>
            </a:r>
            <a:r>
              <a:rPr sz="2100" b="0" dirty="0">
                <a:solidFill>
                  <a:srgbClr val="002D47"/>
                </a:solidFill>
                <a:latin typeface="Aptos"/>
              </a:rPr>
              <a:t> der vier </a:t>
            </a:r>
            <a:r>
              <a:rPr sz="2100" b="0" dirty="0" err="1">
                <a:solidFill>
                  <a:srgbClr val="002D47"/>
                </a:solidFill>
                <a:latin typeface="Aptos"/>
              </a:rPr>
              <a:t>Dimensionswerte</a:t>
            </a:r>
            <a:endParaRPr sz="2100" b="0" dirty="0">
              <a:solidFill>
                <a:srgbClr val="002D47"/>
              </a:solidFill>
              <a:latin typeface="Apto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41248" y="4005072"/>
            <a:ext cx="10497312" cy="10972"/>
          </a:xfrm>
          <a:prstGeom prst="rect">
            <a:avLst/>
          </a:prstGeom>
          <a:solidFill>
            <a:srgbClr val="708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8" y="4334256"/>
            <a:ext cx="292608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dirty="0">
                <a:solidFill>
                  <a:srgbClr val="002D47"/>
                </a:solidFill>
                <a:latin typeface="Aptos Display"/>
              </a:rPr>
              <a:t>GEWICHTUNGSLOGIK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4690872"/>
            <a:ext cx="20116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FF00"/>
                </a:solidFill>
                <a:latin typeface="Apto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" y="4690872"/>
            <a:ext cx="10040112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002D47"/>
                </a:solidFill>
                <a:latin typeface="Aptos"/>
              </a:rPr>
              <a:t>Zugänglichkeit und Aussagekraft erhalten mit 2,0 die höchsten Dimensionsgewichte, da ein Versagen hier den Datensatz am stärksten entwertet.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5404104"/>
            <a:ext cx="20116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FF00"/>
                </a:solidFill>
                <a:latin typeface="Apto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" y="5404104"/>
            <a:ext cx="10040112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002D47"/>
                </a:solidFill>
                <a:latin typeface="Aptos"/>
              </a:rPr>
              <a:t>Datenbrechende Indikatoren wie Erreichbarkeit und Lizenz werden zusätzlich auf Indikatorebene angehoben.</a:t>
            </a:r>
          </a:p>
        </p:txBody>
      </p:sp>
      <p:sp>
        <p:nvSpPr>
          <p:cNvPr id="18" name="Datumsplatzhalter 3">
            <a:extLst>
              <a:ext uri="{FF2B5EF4-FFF2-40B4-BE49-F238E27FC236}">
                <a16:creationId xmlns:a16="http://schemas.microsoft.com/office/drawing/2014/main" id="{E342F399-BB0E-14F8-4EA4-417A6ABA9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14. September 2026</a:t>
            </a:r>
          </a:p>
        </p:txBody>
      </p:sp>
      <p:sp>
        <p:nvSpPr>
          <p:cNvPr id="19" name="Fußzeilenplatzhalter 4">
            <a:extLst>
              <a:ext uri="{FF2B5EF4-FFF2-40B4-BE49-F238E27FC236}">
                <a16:creationId xmlns:a16="http://schemas.microsoft.com/office/drawing/2014/main" id="{261C2C29-9A68-ADDC-AC07-C28CDE9EC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 E I T E N B A U</a:t>
            </a:r>
            <a:endParaRPr lang="de-DE"/>
          </a:p>
        </p:txBody>
      </p:sp>
      <p:sp>
        <p:nvSpPr>
          <p:cNvPr id="20" name="Foliennummernplatzhalter 5">
            <a:extLst>
              <a:ext uri="{FF2B5EF4-FFF2-40B4-BE49-F238E27FC236}">
                <a16:creationId xmlns:a16="http://schemas.microsoft.com/office/drawing/2014/main" id="{5BB6EE48-E9AC-A61E-4970-A74A57378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Vom Prüfergebnis zum Befund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188720"/>
            <a:ext cx="1046988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2D47"/>
                </a:solidFill>
                <a:latin typeface="Aptos Display"/>
              </a:rPr>
              <a:t>EINHEITLICHE BEFUND-STRUKTUR ÜBER ALLE 27 INDIKATOREN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609344"/>
            <a:ext cx="3291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700" b="1">
                <a:solidFill>
                  <a:srgbClr val="00FF00"/>
                </a:solidFill>
                <a:latin typeface="Aptos Display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1581912"/>
            <a:ext cx="2880360" cy="6583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002D47"/>
                </a:solidFill>
                <a:latin typeface="Aptos"/>
              </a:rPr>
              <a:t>Kernaussage
</a:t>
            </a:r>
            <a:r>
              <a:rPr sz="1500" b="0">
                <a:solidFill>
                  <a:srgbClr val="002D47"/>
                </a:solidFill>
                <a:latin typeface="Aptos"/>
              </a:rPr>
              <a:t>sofort erfassbar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34256" y="1609344"/>
            <a:ext cx="3291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700" b="1">
                <a:solidFill>
                  <a:srgbClr val="00FF00"/>
                </a:solidFill>
                <a:latin typeface="Aptos Display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91456" y="1581912"/>
            <a:ext cx="2880360" cy="6583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002D47"/>
                </a:solidFill>
                <a:latin typeface="Aptos"/>
              </a:rPr>
              <a:t>Ist-Angaben
</a:t>
            </a:r>
            <a:r>
              <a:rPr sz="1500" b="0">
                <a:solidFill>
                  <a:srgbClr val="002D47"/>
                </a:solidFill>
                <a:latin typeface="Aptos"/>
              </a:rPr>
              <a:t>mit konkreter Fundstelle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27264" y="1609344"/>
            <a:ext cx="3291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700" b="1">
                <a:solidFill>
                  <a:srgbClr val="00FF00"/>
                </a:solidFill>
                <a:latin typeface="Aptos Display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4464" y="1581912"/>
            <a:ext cx="2880360" cy="6583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002D47"/>
                </a:solidFill>
                <a:latin typeface="Aptos"/>
              </a:rPr>
              <a:t>Handlungsanweisung
</a:t>
            </a:r>
            <a:r>
              <a:rPr sz="1500" b="0">
                <a:solidFill>
                  <a:srgbClr val="002D47"/>
                </a:solidFill>
                <a:latin typeface="Aptos"/>
              </a:rPr>
              <a:t>statt technischer Fehlermeldung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2450592"/>
            <a:ext cx="10497312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2D47"/>
                </a:solidFill>
                <a:latin typeface="Aptos Display"/>
              </a:rPr>
              <a:t>DREI ZIELGRUPPEN — UNTERSCHIEDLICHER AUFLÖSUNGSBEDARF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834640"/>
            <a:ext cx="10332720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 dirty="0" err="1">
                <a:solidFill>
                  <a:srgbClr val="002D47"/>
                </a:solidFill>
                <a:latin typeface="Aptos"/>
              </a:rPr>
              <a:t>Datennutzende</a:t>
            </a:r>
            <a:r>
              <a:rPr sz="1400" b="0" dirty="0">
                <a:solidFill>
                  <a:srgbClr val="002D47"/>
                </a:solidFill>
                <a:latin typeface="Aptos"/>
              </a:rPr>
              <a:t>: </a:t>
            </a:r>
            <a:r>
              <a:rPr sz="1400" b="0" dirty="0" err="1">
                <a:solidFill>
                  <a:srgbClr val="002D47"/>
                </a:solidFill>
                <a:latin typeface="Aptos"/>
              </a:rPr>
              <a:t>Gesamtscore</a:t>
            </a:r>
            <a:r>
              <a:rPr sz="1400" b="0" dirty="0">
                <a:solidFill>
                  <a:srgbClr val="002D47"/>
                </a:solidFill>
                <a:latin typeface="Aptos"/>
              </a:rPr>
              <a:t>   ·   </a:t>
            </a:r>
            <a:r>
              <a:rPr sz="1400" b="0" dirty="0" err="1">
                <a:solidFill>
                  <a:srgbClr val="002D47"/>
                </a:solidFill>
                <a:latin typeface="Aptos"/>
              </a:rPr>
              <a:t>Datenbereitstellende</a:t>
            </a:r>
            <a:r>
              <a:rPr sz="1400" b="0" dirty="0">
                <a:solidFill>
                  <a:srgbClr val="002D47"/>
                </a:solidFill>
                <a:latin typeface="Aptos"/>
              </a:rPr>
              <a:t>: </a:t>
            </a:r>
            <a:r>
              <a:rPr sz="1400" b="0" dirty="0" err="1">
                <a:solidFill>
                  <a:srgbClr val="002D47"/>
                </a:solidFill>
                <a:latin typeface="Aptos"/>
              </a:rPr>
              <a:t>Einzelbefund</a:t>
            </a:r>
            <a:r>
              <a:rPr sz="1400" b="0" dirty="0">
                <a:solidFill>
                  <a:srgbClr val="002D47"/>
                </a:solidFill>
                <a:latin typeface="Aptos"/>
              </a:rPr>
              <a:t> je </a:t>
            </a:r>
            <a:r>
              <a:rPr sz="1400" b="0" dirty="0" err="1">
                <a:solidFill>
                  <a:srgbClr val="002D47"/>
                </a:solidFill>
                <a:latin typeface="Aptos"/>
              </a:rPr>
              <a:t>Indikator</a:t>
            </a:r>
            <a:r>
              <a:rPr sz="1400" b="0" dirty="0">
                <a:solidFill>
                  <a:srgbClr val="002D47"/>
                </a:solidFill>
                <a:latin typeface="Aptos"/>
              </a:rPr>
              <a:t>   ·   </a:t>
            </a:r>
            <a:r>
              <a:rPr sz="1400" b="0" dirty="0" err="1">
                <a:solidFill>
                  <a:srgbClr val="002D47"/>
                </a:solidFill>
                <a:latin typeface="Aptos"/>
              </a:rPr>
              <a:t>Portalbetreibende</a:t>
            </a:r>
            <a:r>
              <a:rPr sz="1400" b="0" dirty="0">
                <a:solidFill>
                  <a:srgbClr val="002D47"/>
                </a:solidFill>
                <a:latin typeface="Aptos"/>
              </a:rPr>
              <a:t>: Aggregation </a:t>
            </a:r>
            <a:r>
              <a:rPr sz="1400" b="0" dirty="0" err="1">
                <a:solidFill>
                  <a:srgbClr val="002D47"/>
                </a:solidFill>
                <a:latin typeface="Aptos"/>
              </a:rPr>
              <a:t>über</a:t>
            </a:r>
            <a:r>
              <a:rPr sz="1400" b="0" dirty="0">
                <a:solidFill>
                  <a:srgbClr val="002D47"/>
                </a:solidFill>
                <a:latin typeface="Aptos"/>
              </a:rPr>
              <a:t> den </a:t>
            </a:r>
            <a:r>
              <a:rPr sz="1400" b="0" dirty="0" err="1">
                <a:solidFill>
                  <a:srgbClr val="002D47"/>
                </a:solidFill>
                <a:latin typeface="Aptos"/>
              </a:rPr>
              <a:t>Bestand</a:t>
            </a:r>
            <a:endParaRPr sz="1400" b="0" dirty="0">
              <a:solidFill>
                <a:srgbClr val="002D47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24128" y="4700016"/>
            <a:ext cx="4681727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70818C"/>
                </a:solidFill>
                <a:latin typeface="Aptos"/>
              </a:rPr>
              <a:t>thesis/images/frontend_trefferliste.png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352544"/>
            <a:ext cx="4681727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70818C"/>
                </a:solidFill>
                <a:latin typeface="Aptos Display"/>
              </a:rPr>
              <a:t>BEFUNDANSICHT MANUELL EINFÜGEN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700016"/>
            <a:ext cx="4681727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70818C"/>
                </a:solidFill>
                <a:latin typeface="Aptos"/>
              </a:rPr>
              <a:t>thesis/images/frontend_befund.png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5897880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70818C"/>
                </a:solidFill>
                <a:latin typeface="Aptos"/>
              </a:rPr>
              <a:t>Der Demonstrator bildet die GovData-Portaloberfläche nach.</a:t>
            </a:r>
          </a:p>
        </p:txBody>
      </p:sp>
      <p:pic>
        <p:nvPicPr>
          <p:cNvPr id="23" name="Grafik 22">
            <a:extLst>
              <a:ext uri="{FF2B5EF4-FFF2-40B4-BE49-F238E27FC236}">
                <a16:creationId xmlns:a16="http://schemas.microsoft.com/office/drawing/2014/main" id="{CA56D159-F995-108F-B1C3-1E9BEA57AB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401568"/>
            <a:ext cx="4216083" cy="2402961"/>
          </a:xfrm>
          <a:prstGeom prst="rect">
            <a:avLst/>
          </a:prstGeom>
        </p:spPr>
      </p:pic>
      <p:pic>
        <p:nvPicPr>
          <p:cNvPr id="25" name="Grafik 24">
            <a:extLst>
              <a:ext uri="{FF2B5EF4-FFF2-40B4-BE49-F238E27FC236}">
                <a16:creationId xmlns:a16="http://schemas.microsoft.com/office/drawing/2014/main" id="{580C3AD7-5141-92B5-F9B0-05E6A58FE9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4234" y="3401568"/>
            <a:ext cx="4839566" cy="2406414"/>
          </a:xfrm>
          <a:prstGeom prst="rect">
            <a:avLst/>
          </a:prstGeom>
        </p:spPr>
      </p:pic>
      <p:sp>
        <p:nvSpPr>
          <p:cNvPr id="26" name="Datumsplatzhalter 3">
            <a:extLst>
              <a:ext uri="{FF2B5EF4-FFF2-40B4-BE49-F238E27FC236}">
                <a16:creationId xmlns:a16="http://schemas.microsoft.com/office/drawing/2014/main" id="{E342F399-BB0E-14F8-4EA4-417A6ABA9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14. September 2026</a:t>
            </a:r>
          </a:p>
        </p:txBody>
      </p:sp>
      <p:sp>
        <p:nvSpPr>
          <p:cNvPr id="27" name="Fußzeilenplatzhalter 4">
            <a:extLst>
              <a:ext uri="{FF2B5EF4-FFF2-40B4-BE49-F238E27FC236}">
                <a16:creationId xmlns:a16="http://schemas.microsoft.com/office/drawing/2014/main" id="{261C2C29-9A68-ADDC-AC07-C28CDE9EC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 E I T E N B A U</a:t>
            </a:r>
            <a:endParaRPr lang="de-DE"/>
          </a:p>
        </p:txBody>
      </p:sp>
      <p:sp>
        <p:nvSpPr>
          <p:cNvPr id="28" name="Foliennummernplatzhalter 5">
            <a:extLst>
              <a:ext uri="{FF2B5EF4-FFF2-40B4-BE49-F238E27FC236}">
                <a16:creationId xmlns:a16="http://schemas.microsoft.com/office/drawing/2014/main" id="{5BB6EE48-E9AC-A61E-4970-A74A57378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Evaluationsdesign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1408" y="1373632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2D47"/>
                </a:solidFill>
                <a:latin typeface="Aptos Display"/>
              </a:rPr>
              <a:t>GROUND TRUTH</a:t>
            </a:r>
          </a:p>
        </p:txBody>
      </p:sp>
      <p:sp>
        <p:nvSpPr>
          <p:cNvPr id="8" name="Rectangle 7"/>
          <p:cNvSpPr/>
          <p:nvPr/>
        </p:nvSpPr>
        <p:spPr>
          <a:xfrm>
            <a:off x="851408" y="1794256"/>
            <a:ext cx="4892040" cy="41148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1408" y="2068576"/>
            <a:ext cx="20116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FF00"/>
                </a:solidFill>
                <a:latin typeface="Apto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4016" y="2068576"/>
            <a:ext cx="4553712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002D47"/>
                </a:solidFill>
                <a:latin typeface="Aptos"/>
              </a:rPr>
              <a:t>Manuelle Referenzbewertung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1408" y="2617216"/>
            <a:ext cx="20116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FF00"/>
                </a:solidFill>
                <a:latin typeface="Apto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4016" y="2617216"/>
            <a:ext cx="4553712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002D47"/>
                </a:solidFill>
                <a:latin typeface="Aptos"/>
              </a:rPr>
              <a:t>50 Datensätze Kernstichprobe + 20 Extremfälle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1408" y="3165856"/>
            <a:ext cx="20116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FF00"/>
                </a:solidFill>
                <a:latin typeface="Apto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4016" y="3165856"/>
            <a:ext cx="4553712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002D47"/>
                </a:solidFill>
                <a:latin typeface="Aptos"/>
              </a:rPr>
              <a:t>Sechsstufige Skala je Dimension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1408" y="3714496"/>
            <a:ext cx="20116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FF00"/>
                </a:solidFill>
                <a:latin typeface="Apto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4016" y="3714496"/>
            <a:ext cx="4553712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002D47"/>
                </a:solidFill>
                <a:latin typeface="Aptos"/>
              </a:rPr>
              <a:t>Blind gegenüber Prototyp-Scores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1232" y="1373632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2D47"/>
                </a:solidFill>
                <a:latin typeface="Aptos Display"/>
              </a:rPr>
              <a:t>MQA-BASELINE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1232" y="1794256"/>
            <a:ext cx="4892040" cy="41148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01232" y="2068576"/>
            <a:ext cx="20116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FF00"/>
                </a:solidFill>
                <a:latin typeface="Aptos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93840" y="2068576"/>
            <a:ext cx="4553712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002D47"/>
                </a:solidFill>
                <a:latin typeface="Aptos"/>
              </a:rPr>
              <a:t>Reimplementierte Metadata Quality Assessment von data.europa.eu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1232" y="2836672"/>
            <a:ext cx="20116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FF00"/>
                </a:solidFill>
                <a:latin typeface="Aptos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93840" y="2836672"/>
            <a:ext cx="4553712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002D47"/>
                </a:solidFill>
                <a:latin typeface="Aptos"/>
              </a:rPr>
              <a:t>Gleicher RDF-Input wie beim Prototyp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1408" y="4409440"/>
            <a:ext cx="10341864" cy="10972"/>
          </a:xfrm>
          <a:prstGeom prst="rect">
            <a:avLst/>
          </a:prstGeom>
          <a:solidFill>
            <a:srgbClr val="708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51408" y="4711192"/>
            <a:ext cx="104241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2D47"/>
                </a:solidFill>
                <a:latin typeface="Aptos Display"/>
              </a:rPr>
              <a:t>HYPOTHESEN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1408" y="5086096"/>
            <a:ext cx="45720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FF00"/>
                </a:solidFill>
                <a:latin typeface="Aptos Display"/>
              </a:rPr>
              <a:t>H1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8336" y="5067808"/>
            <a:ext cx="2816352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50" b="0">
                <a:solidFill>
                  <a:srgbClr val="002D47"/>
                </a:solidFill>
                <a:latin typeface="Aptos"/>
              </a:rPr>
              <a:t>Konvergenz auf äquivalenten Prüfungen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4416" y="5086096"/>
            <a:ext cx="45720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FF00"/>
                </a:solidFill>
                <a:latin typeface="Aptos Display"/>
              </a:rPr>
              <a:t>H2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11344" y="5067808"/>
            <a:ext cx="2816352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50" b="0">
                <a:solidFill>
                  <a:srgbClr val="002D47"/>
                </a:solidFill>
                <a:latin typeface="Aptos"/>
              </a:rPr>
              <a:t>Mehrwert durch tiefere Prüfung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37424" y="5086096"/>
            <a:ext cx="45720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FF00"/>
                </a:solidFill>
                <a:latin typeface="Aptos Display"/>
              </a:rPr>
              <a:t>H3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04352" y="5067808"/>
            <a:ext cx="2816352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50" b="0">
                <a:solidFill>
                  <a:srgbClr val="002D47"/>
                </a:solidFill>
                <a:latin typeface="Aptos"/>
              </a:rPr>
              <a:t>Höhere Korrektheit als Baseline</a:t>
            </a:r>
          </a:p>
        </p:txBody>
      </p:sp>
      <p:sp>
        <p:nvSpPr>
          <p:cNvPr id="31" name="Datumsplatzhalter 3">
            <a:extLst>
              <a:ext uri="{FF2B5EF4-FFF2-40B4-BE49-F238E27FC236}">
                <a16:creationId xmlns:a16="http://schemas.microsoft.com/office/drawing/2014/main" id="{E342F399-BB0E-14F8-4EA4-417A6ABA9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14. September 2026</a:t>
            </a:r>
          </a:p>
        </p:txBody>
      </p:sp>
      <p:sp>
        <p:nvSpPr>
          <p:cNvPr id="32" name="Fußzeilenplatzhalter 4">
            <a:extLst>
              <a:ext uri="{FF2B5EF4-FFF2-40B4-BE49-F238E27FC236}">
                <a16:creationId xmlns:a16="http://schemas.microsoft.com/office/drawing/2014/main" id="{261C2C29-9A68-ADDC-AC07-C28CDE9EC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 E I T E N B A U</a:t>
            </a:r>
            <a:endParaRPr lang="de-DE"/>
          </a:p>
        </p:txBody>
      </p:sp>
      <p:sp>
        <p:nvSpPr>
          <p:cNvPr id="33" name="Foliennummernplatzhalter 5">
            <a:extLst>
              <a:ext uri="{FF2B5EF4-FFF2-40B4-BE49-F238E27FC236}">
                <a16:creationId xmlns:a16="http://schemas.microsoft.com/office/drawing/2014/main" id="{5BB6EE48-E9AC-A61E-4970-A74A57378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Hauptergebnisse im Überblick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188720"/>
            <a:ext cx="1046988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2D47"/>
                </a:solidFill>
                <a:latin typeface="Aptos Display"/>
              </a:rPr>
              <a:t>EVALUATION AUF KERNSTICHPROBE UND EXTREMFÄLLEN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737360"/>
            <a:ext cx="324612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400" b="1" dirty="0">
                <a:solidFill>
                  <a:srgbClr val="00FF00"/>
                </a:solidFill>
                <a:latin typeface="Aptos Display"/>
              </a:rPr>
              <a:t>ρ = 0,765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423160"/>
            <a:ext cx="3200400" cy="6949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50" b="0">
                <a:solidFill>
                  <a:srgbClr val="002D47"/>
                </a:solidFill>
                <a:latin typeface="Aptos"/>
              </a:rPr>
              <a:t>Rangkorrelation mit Ground Truth
Kernstichprobe</a:t>
            </a:r>
          </a:p>
        </p:txBody>
      </p:sp>
      <p:sp>
        <p:nvSpPr>
          <p:cNvPr id="9" name="Rectangle 8"/>
          <p:cNvSpPr/>
          <p:nvPr/>
        </p:nvSpPr>
        <p:spPr>
          <a:xfrm>
            <a:off x="4087368" y="1673352"/>
            <a:ext cx="12801" cy="1490472"/>
          </a:xfrm>
          <a:prstGeom prst="rect">
            <a:avLst/>
          </a:prstGeom>
          <a:solidFill>
            <a:srgbClr val="708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34256" y="1737360"/>
            <a:ext cx="324612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00FF00"/>
                </a:solidFill>
                <a:latin typeface="Aptos Display"/>
              </a:rPr>
              <a:t>92 %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34256" y="2423160"/>
            <a:ext cx="3200400" cy="6949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50" b="0">
                <a:solidFill>
                  <a:srgbClr val="002D47"/>
                </a:solidFill>
                <a:latin typeface="Aptos"/>
              </a:rPr>
              <a:t>korrekte Gesamteinordnung
gut / mittel / schlecht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0375" y="1673352"/>
            <a:ext cx="12801" cy="1490472"/>
          </a:xfrm>
          <a:prstGeom prst="rect">
            <a:avLst/>
          </a:prstGeom>
          <a:solidFill>
            <a:srgbClr val="708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27264" y="1737360"/>
            <a:ext cx="324612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400" b="1" dirty="0">
                <a:solidFill>
                  <a:srgbClr val="00FF00"/>
                </a:solidFill>
                <a:latin typeface="Aptos Display"/>
              </a:rPr>
              <a:t>ρ = </a:t>
            </a:r>
            <a:r>
              <a:rPr lang="de-DE" sz="3400" b="1" dirty="0">
                <a:solidFill>
                  <a:srgbClr val="00FF00"/>
                </a:solidFill>
                <a:latin typeface="Aptos Display"/>
              </a:rPr>
              <a:t>0,834</a:t>
            </a:r>
            <a:endParaRPr sz="3400" b="1" dirty="0">
              <a:solidFill>
                <a:srgbClr val="00FF00"/>
              </a:solidFill>
              <a:latin typeface="Aptos Display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27264" y="2423160"/>
            <a:ext cx="3200400" cy="6949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50" b="0">
                <a:solidFill>
                  <a:srgbClr val="002D47"/>
                </a:solidFill>
                <a:latin typeface="Aptos"/>
              </a:rPr>
              <a:t>Korrelation Gesamtscore
mit MQA-Baseline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" y="3410712"/>
            <a:ext cx="10332720" cy="10972"/>
          </a:xfrm>
          <a:prstGeom prst="rect">
            <a:avLst/>
          </a:prstGeom>
          <a:solidFill>
            <a:srgbClr val="708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8" y="3749039"/>
            <a:ext cx="489204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700" b="1">
                <a:solidFill>
                  <a:srgbClr val="00FF00"/>
                </a:solidFill>
                <a:latin typeface="Aptos Display"/>
              </a:rPr>
              <a:t>15,8 %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4498848"/>
            <a:ext cx="4754880" cy="7498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02D47"/>
                </a:solidFill>
                <a:latin typeface="Aptos"/>
              </a:rPr>
              <a:t>Überschätzungsrate der MQA-Baseline
auf vertieft geprüften Indikatoren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25312" y="3694176"/>
            <a:ext cx="12801" cy="1609344"/>
          </a:xfrm>
          <a:prstGeom prst="rect">
            <a:avLst/>
          </a:prstGeom>
          <a:solidFill>
            <a:srgbClr val="708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099048" y="3749039"/>
            <a:ext cx="489204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700" b="1">
                <a:solidFill>
                  <a:srgbClr val="00FF00"/>
                </a:solidFill>
                <a:latin typeface="Aptos Display"/>
              </a:rPr>
              <a:t>5/6 · 6/6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9048" y="4498848"/>
            <a:ext cx="4754880" cy="7498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02D47"/>
                </a:solidFill>
                <a:latin typeface="Aptos"/>
              </a:rPr>
              <a:t>Zielgrößen näher am menschlichen Urteil
Kernstichprobe · Extremfälle</a:t>
            </a:r>
          </a:p>
        </p:txBody>
      </p:sp>
      <p:sp>
        <p:nvSpPr>
          <p:cNvPr id="21" name="Datumsplatzhalter 3">
            <a:extLst>
              <a:ext uri="{FF2B5EF4-FFF2-40B4-BE49-F238E27FC236}">
                <a16:creationId xmlns:a16="http://schemas.microsoft.com/office/drawing/2014/main" id="{E342F399-BB0E-14F8-4EA4-417A6ABA9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14. September 2026</a:t>
            </a:r>
          </a:p>
        </p:txBody>
      </p:sp>
      <p:sp>
        <p:nvSpPr>
          <p:cNvPr id="22" name="Fußzeilenplatzhalter 4">
            <a:extLst>
              <a:ext uri="{FF2B5EF4-FFF2-40B4-BE49-F238E27FC236}">
                <a16:creationId xmlns:a16="http://schemas.microsoft.com/office/drawing/2014/main" id="{261C2C29-9A68-ADDC-AC07-C28CDE9EC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 E I T E N B A U</a:t>
            </a:r>
            <a:endParaRPr lang="de-DE"/>
          </a:p>
        </p:txBody>
      </p:sp>
      <p:sp>
        <p:nvSpPr>
          <p:cNvPr id="23" name="Foliennummernplatzhalter 5">
            <a:extLst>
              <a:ext uri="{FF2B5EF4-FFF2-40B4-BE49-F238E27FC236}">
                <a16:creationId xmlns:a16="http://schemas.microsoft.com/office/drawing/2014/main" id="{5BB6EE48-E9AC-A61E-4970-A74A57378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20040"/>
            <a:ext cx="10972800" cy="658368"/>
          </a:xfrm>
        </p:spPr>
        <p:txBody>
          <a:bodyPr/>
          <a:lstStyle/>
          <a:p>
            <a:r>
              <a:rPr sz="3500"/>
              <a:t>Konvergenz auf Klasse A, Überschätzung auf Klasse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5152" y="1270464"/>
            <a:ext cx="3363607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2D47"/>
                </a:solidFill>
                <a:latin typeface="Aptos Display"/>
              </a:rPr>
              <a:t>KLASSE A — ÄQUIVALENTE PRÜFUNG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5152" y="1636224"/>
            <a:ext cx="192024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4400" b="1" dirty="0">
                <a:solidFill>
                  <a:srgbClr val="00FF00"/>
                </a:solidFill>
                <a:latin typeface="Aptos Display"/>
              </a:rPr>
              <a:t>96 %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06752" y="1704804"/>
            <a:ext cx="192024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dirty="0" err="1">
                <a:solidFill>
                  <a:srgbClr val="002D47"/>
                </a:solidFill>
                <a:latin typeface="Aptos"/>
              </a:rPr>
              <a:t>Übereinstimmung</a:t>
            </a:r>
            <a:r>
              <a:rPr sz="1700" b="1" dirty="0">
                <a:solidFill>
                  <a:srgbClr val="002D47"/>
                </a:solidFill>
                <a:latin typeface="Aptos"/>
              </a:rPr>
              <a:t> </a:t>
            </a:r>
            <a:r>
              <a:rPr sz="1700" b="1" dirty="0" err="1">
                <a:solidFill>
                  <a:srgbClr val="002D47"/>
                </a:solidFill>
                <a:latin typeface="Aptos"/>
              </a:rPr>
              <a:t>mit</a:t>
            </a:r>
            <a:r>
              <a:rPr sz="1700" b="1" dirty="0">
                <a:solidFill>
                  <a:srgbClr val="002D47"/>
                </a:solidFill>
                <a:latin typeface="Aptos"/>
              </a:rPr>
              <a:t> MQA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76819" y="1270464"/>
            <a:ext cx="50292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dirty="0">
                <a:solidFill>
                  <a:srgbClr val="002D47"/>
                </a:solidFill>
                <a:latin typeface="Aptos Display"/>
              </a:rPr>
              <a:t>KLASSE B — VORHANDENSEIN VS. GÜLTIGKEIT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76819" y="1636224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4400" b="1" dirty="0">
                <a:solidFill>
                  <a:srgbClr val="00FF00"/>
                </a:solidFill>
                <a:latin typeface="Aptos Display"/>
              </a:rPr>
              <a:t>15,8 %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74547" y="1704804"/>
            <a:ext cx="2357766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50" b="1" dirty="0">
                <a:solidFill>
                  <a:srgbClr val="002D47"/>
                </a:solidFill>
                <a:latin typeface="Aptos"/>
              </a:rPr>
              <a:t>MQA </a:t>
            </a:r>
            <a:r>
              <a:rPr sz="1650" b="1" dirty="0" err="1">
                <a:solidFill>
                  <a:srgbClr val="002D47"/>
                </a:solidFill>
                <a:latin typeface="Aptos"/>
              </a:rPr>
              <a:t>überschätzt</a:t>
            </a:r>
            <a:r>
              <a:rPr sz="1650" b="1" dirty="0">
                <a:solidFill>
                  <a:srgbClr val="002D47"/>
                </a:solidFill>
                <a:latin typeface="Aptos"/>
              </a:rPr>
              <a:t>; polit. </a:t>
            </a:r>
            <a:r>
              <a:rPr sz="1650" b="1" dirty="0" err="1">
                <a:solidFill>
                  <a:srgbClr val="002D47"/>
                </a:solidFill>
                <a:latin typeface="Aptos"/>
              </a:rPr>
              <a:t>Geokodierung</a:t>
            </a:r>
            <a:r>
              <a:rPr sz="1650" b="1" dirty="0">
                <a:solidFill>
                  <a:srgbClr val="002D47"/>
                </a:solidFill>
                <a:latin typeface="Aptos"/>
              </a:rPr>
              <a:t>: 56 %</a:t>
            </a:r>
          </a:p>
        </p:txBody>
      </p:sp>
      <p:pic>
        <p:nvPicPr>
          <p:cNvPr id="19" name="Grafik 18">
            <a:extLst>
              <a:ext uri="{FF2B5EF4-FFF2-40B4-BE49-F238E27FC236}">
                <a16:creationId xmlns:a16="http://schemas.microsoft.com/office/drawing/2014/main" id="{3101711B-CF0B-97AA-4702-58DEE67429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152" y="2556534"/>
            <a:ext cx="3581408" cy="3303382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37B83819-610E-7494-04E0-14BB77E6A1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6819" y="2537881"/>
            <a:ext cx="6080029" cy="3303382"/>
          </a:xfrm>
          <a:prstGeom prst="rect">
            <a:avLst/>
          </a:prstGeom>
        </p:spPr>
      </p:pic>
      <p:sp>
        <p:nvSpPr>
          <p:cNvPr id="22" name="Datumsplatzhalter 3">
            <a:extLst>
              <a:ext uri="{FF2B5EF4-FFF2-40B4-BE49-F238E27FC236}">
                <a16:creationId xmlns:a16="http://schemas.microsoft.com/office/drawing/2014/main" id="{E342F399-BB0E-14F8-4EA4-417A6ABA9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14. September 2026</a:t>
            </a:r>
          </a:p>
        </p:txBody>
      </p:sp>
      <p:sp>
        <p:nvSpPr>
          <p:cNvPr id="23" name="Fußzeilenplatzhalter 4">
            <a:extLst>
              <a:ext uri="{FF2B5EF4-FFF2-40B4-BE49-F238E27FC236}">
                <a16:creationId xmlns:a16="http://schemas.microsoft.com/office/drawing/2014/main" id="{261C2C29-9A68-ADDC-AC07-C28CDE9EC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 E I T E N B A U</a:t>
            </a:r>
            <a:endParaRPr lang="de-DE"/>
          </a:p>
        </p:txBody>
      </p:sp>
      <p:sp>
        <p:nvSpPr>
          <p:cNvPr id="24" name="Foliennummernplatzhalter 5">
            <a:extLst>
              <a:ext uri="{FF2B5EF4-FFF2-40B4-BE49-F238E27FC236}">
                <a16:creationId xmlns:a16="http://schemas.microsoft.com/office/drawing/2014/main" id="{5BB6EE48-E9AC-A61E-4970-A74A57378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20040"/>
            <a:ext cx="10972800" cy="658368"/>
          </a:xfrm>
        </p:spPr>
        <p:txBody>
          <a:bodyPr/>
          <a:lstStyle/>
          <a:p>
            <a:r>
              <a:rPr sz="3500"/>
              <a:t>Triangulation: wer liegt näher am menschlichen Urteil?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188720"/>
            <a:ext cx="1046988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2D47"/>
                </a:solidFill>
                <a:latin typeface="Aptos Display"/>
              </a:rPr>
              <a:t>GROUND TRUTH ALS GEMEINSAMER VERGLEICHSMASSSTAB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645920"/>
            <a:ext cx="5010912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02D47"/>
                </a:solidFill>
                <a:latin typeface="Aptos Display"/>
              </a:rPr>
              <a:t>KERNSTICHPROBE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984248"/>
            <a:ext cx="20116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FF00"/>
                </a:solidFill>
                <a:latin typeface="Apto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" y="1984248"/>
            <a:ext cx="4599431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002D47"/>
                </a:solidFill>
                <a:latin typeface="Aptos"/>
              </a:rPr>
              <a:t>Prototyp bei 5 von 6 Zielgrößen vorn.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615184"/>
            <a:ext cx="20116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FF00"/>
                </a:solidFill>
                <a:latin typeface="Apto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" y="2615184"/>
            <a:ext cx="4599431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002D47"/>
                </a:solidFill>
                <a:latin typeface="Aptos"/>
              </a:rPr>
              <a:t>Einzige Ausnahme: Auffindbarkeit — zugleich niedrigstes Dimensionsgewicht.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44768" y="1645920"/>
            <a:ext cx="5010912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02D47"/>
                </a:solidFill>
                <a:latin typeface="Aptos Display"/>
              </a:rPr>
              <a:t>EXTREMFÄLLE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44768" y="1984248"/>
            <a:ext cx="20116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FF00"/>
                </a:solidFill>
                <a:latin typeface="Apto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7376" y="1984248"/>
            <a:ext cx="4599431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002D47"/>
                </a:solidFill>
                <a:latin typeface="Aptos"/>
              </a:rPr>
              <a:t>Prototyp bei allen 6 Zielgrößen vorn.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44768" y="2615184"/>
            <a:ext cx="20116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FF00"/>
                </a:solidFill>
                <a:latin typeface="Apto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7376" y="2615184"/>
            <a:ext cx="4599431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002D47"/>
                </a:solidFill>
                <a:latin typeface="Aptos"/>
              </a:rPr>
              <a:t>Deutlich größere Abstände zur Baseline.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4370832"/>
            <a:ext cx="4681727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70818C"/>
                </a:solidFill>
                <a:latin typeface="Aptos Display"/>
              </a:rPr>
              <a:t>KERNSTICHPROBE MANUELL EINFÜGEN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" y="4718304"/>
            <a:ext cx="4681727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70818C"/>
                </a:solidFill>
                <a:latin typeface="Aptos"/>
              </a:rPr>
              <a:t>thesis/images/mqa_triangulation_kernstichprobe.png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4370832"/>
            <a:ext cx="4681727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70818C"/>
                </a:solidFill>
                <a:latin typeface="Aptos Display"/>
              </a:rPr>
              <a:t>EXTREMFÄLLE OPTIONAL EINFÜGEN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4718304"/>
            <a:ext cx="4681727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70818C"/>
                </a:solidFill>
                <a:latin typeface="Aptos"/>
              </a:rPr>
              <a:t>thesis/images/mqa_triangulation_extremfaelle.png</a:t>
            </a:r>
          </a:p>
        </p:txBody>
      </p:sp>
      <p:sp>
        <p:nvSpPr>
          <p:cNvPr id="31" name="Datumsplatzhalter 3">
            <a:extLst>
              <a:ext uri="{FF2B5EF4-FFF2-40B4-BE49-F238E27FC236}">
                <a16:creationId xmlns:a16="http://schemas.microsoft.com/office/drawing/2014/main" id="{E342F399-BB0E-14F8-4EA4-417A6ABA9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14. September 2026</a:t>
            </a:r>
          </a:p>
        </p:txBody>
      </p:sp>
      <p:sp>
        <p:nvSpPr>
          <p:cNvPr id="32" name="Fußzeilenplatzhalter 4">
            <a:extLst>
              <a:ext uri="{FF2B5EF4-FFF2-40B4-BE49-F238E27FC236}">
                <a16:creationId xmlns:a16="http://schemas.microsoft.com/office/drawing/2014/main" id="{261C2C29-9A68-ADDC-AC07-C28CDE9EC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 E I T E N B A U</a:t>
            </a:r>
            <a:endParaRPr lang="de-DE"/>
          </a:p>
        </p:txBody>
      </p:sp>
      <p:sp>
        <p:nvSpPr>
          <p:cNvPr id="33" name="Foliennummernplatzhalter 5">
            <a:extLst>
              <a:ext uri="{FF2B5EF4-FFF2-40B4-BE49-F238E27FC236}">
                <a16:creationId xmlns:a16="http://schemas.microsoft.com/office/drawing/2014/main" id="{5BB6EE48-E9AC-A61E-4970-A74A57378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16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61756EB3-3ED9-D401-7DD6-0F024B692A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716" y="3255819"/>
            <a:ext cx="4279513" cy="274320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EDF94362-EBC4-991B-DF55-AD1A55841F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3133" y="3255817"/>
            <a:ext cx="3933150" cy="274320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Grenzfall: Aussagekraft auf den Extremfällen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243584"/>
            <a:ext cx="4325112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2D47"/>
                </a:solidFill>
                <a:latin typeface="Aptos Display"/>
              </a:rPr>
              <a:t>BEFUND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600200"/>
            <a:ext cx="1828800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00FF00"/>
                </a:solidFill>
                <a:latin typeface="Aptos Display"/>
              </a:rPr>
              <a:t>ρ = 0,321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528" y="1604264"/>
            <a:ext cx="2468880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 dirty="0" err="1">
                <a:solidFill>
                  <a:srgbClr val="002D47"/>
                </a:solidFill>
                <a:latin typeface="Aptos"/>
              </a:rPr>
              <a:t>nur</a:t>
            </a:r>
            <a:r>
              <a:rPr sz="1600" b="1" dirty="0">
                <a:solidFill>
                  <a:srgbClr val="002D47"/>
                </a:solidFill>
                <a:latin typeface="Aptos"/>
              </a:rPr>
              <a:t> 34 % des </a:t>
            </a:r>
            <a:r>
              <a:rPr sz="1600" b="1" dirty="0" err="1">
                <a:solidFill>
                  <a:srgbClr val="002D47"/>
                </a:solidFill>
                <a:latin typeface="Aptos"/>
              </a:rPr>
              <a:t>theoretisch</a:t>
            </a:r>
            <a:r>
              <a:rPr sz="1600" b="1" dirty="0">
                <a:solidFill>
                  <a:srgbClr val="002D47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002D47"/>
                </a:solidFill>
                <a:latin typeface="Aptos"/>
              </a:rPr>
              <a:t>erreichbaren</a:t>
            </a:r>
            <a:r>
              <a:rPr sz="1600" b="1" dirty="0">
                <a:solidFill>
                  <a:srgbClr val="002D47"/>
                </a:solidFill>
                <a:latin typeface="Aptos"/>
              </a:rPr>
              <a:t> Werts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541098"/>
            <a:ext cx="402336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>
                <a:solidFill>
                  <a:srgbClr val="00FF00"/>
                </a:solidFill>
                <a:latin typeface="Aptos Display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2522810"/>
            <a:ext cx="3931920" cy="685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dirty="0" err="1">
                <a:solidFill>
                  <a:srgbClr val="002D47"/>
                </a:solidFill>
                <a:latin typeface="Aptos"/>
              </a:rPr>
              <a:t>Relationale</a:t>
            </a:r>
            <a:r>
              <a:rPr sz="1700" b="1" dirty="0">
                <a:solidFill>
                  <a:srgbClr val="002D47"/>
                </a:solidFill>
                <a:latin typeface="Aptos"/>
              </a:rPr>
              <a:t> </a:t>
            </a:r>
            <a:r>
              <a:rPr sz="1700" b="1" dirty="0" err="1">
                <a:solidFill>
                  <a:srgbClr val="002D47"/>
                </a:solidFill>
                <a:latin typeface="Aptos"/>
              </a:rPr>
              <a:t>Kriterien</a:t>
            </a:r>
            <a:r>
              <a:rPr sz="1700" b="1" dirty="0">
                <a:solidFill>
                  <a:srgbClr val="002D47"/>
                </a:solidFill>
                <a:latin typeface="Aptos"/>
              </a:rPr>
              <a:t> </a:t>
            </a:r>
            <a:r>
              <a:rPr sz="1700" b="1" dirty="0" err="1">
                <a:solidFill>
                  <a:srgbClr val="002D47"/>
                </a:solidFill>
                <a:latin typeface="Aptos"/>
              </a:rPr>
              <a:t>bleiben</a:t>
            </a:r>
            <a:r>
              <a:rPr sz="1700" b="1" dirty="0">
                <a:solidFill>
                  <a:srgbClr val="002D47"/>
                </a:solidFill>
                <a:latin typeface="Aptos"/>
              </a:rPr>
              <a:t> </a:t>
            </a:r>
            <a:r>
              <a:rPr sz="1700" b="1" dirty="0" err="1">
                <a:solidFill>
                  <a:srgbClr val="002D47"/>
                </a:solidFill>
                <a:latin typeface="Aptos"/>
              </a:rPr>
              <a:t>zu</a:t>
            </a:r>
            <a:r>
              <a:rPr sz="1700" b="1" dirty="0">
                <a:solidFill>
                  <a:srgbClr val="002D47"/>
                </a:solidFill>
                <a:latin typeface="Aptos"/>
              </a:rPr>
              <a:t> </a:t>
            </a:r>
            <a:r>
              <a:rPr sz="1700" b="1" dirty="0" err="1">
                <a:solidFill>
                  <a:srgbClr val="002D47"/>
                </a:solidFill>
                <a:latin typeface="Aptos"/>
              </a:rPr>
              <a:t>hoch</a:t>
            </a:r>
            <a:r>
              <a:rPr sz="1700" b="1" dirty="0">
                <a:solidFill>
                  <a:srgbClr val="002D47"/>
                </a:solidFill>
                <a:latin typeface="Aptos"/>
              </a:rPr>
              <a:t>
</a:t>
            </a:r>
            <a:r>
              <a:rPr sz="1450" b="0" dirty="0" err="1">
                <a:solidFill>
                  <a:srgbClr val="002D47"/>
                </a:solidFill>
                <a:latin typeface="Aptos"/>
              </a:rPr>
              <a:t>Kohärenz</a:t>
            </a:r>
            <a:r>
              <a:rPr sz="1450" b="0" dirty="0">
                <a:solidFill>
                  <a:srgbClr val="002D47"/>
                </a:solidFill>
                <a:latin typeface="Aptos"/>
              </a:rPr>
              <a:t> und </a:t>
            </a:r>
            <a:r>
              <a:rPr sz="1450" b="0" dirty="0" err="1">
                <a:solidFill>
                  <a:srgbClr val="002D47"/>
                </a:solidFill>
                <a:latin typeface="Aptos"/>
              </a:rPr>
              <a:t>thematische</a:t>
            </a:r>
            <a:r>
              <a:rPr sz="1450" b="0" dirty="0">
                <a:solidFill>
                  <a:srgbClr val="002D47"/>
                </a:solidFill>
                <a:latin typeface="Aptos"/>
              </a:rPr>
              <a:t> </a:t>
            </a:r>
            <a:r>
              <a:rPr sz="1450" b="0" dirty="0" err="1">
                <a:solidFill>
                  <a:srgbClr val="002D47"/>
                </a:solidFill>
                <a:latin typeface="Aptos"/>
              </a:rPr>
              <a:t>Konsistenz</a:t>
            </a:r>
            <a:r>
              <a:rPr sz="1450" b="0" dirty="0">
                <a:solidFill>
                  <a:srgbClr val="002D47"/>
                </a:solidFill>
                <a:latin typeface="Aptos"/>
              </a:rPr>
              <a:t> </a:t>
            </a:r>
            <a:r>
              <a:rPr sz="1450" b="0" dirty="0" err="1">
                <a:solidFill>
                  <a:srgbClr val="002D47"/>
                </a:solidFill>
                <a:latin typeface="Aptos"/>
              </a:rPr>
              <a:t>wirken</a:t>
            </a:r>
            <a:r>
              <a:rPr sz="1450" b="0" dirty="0">
                <a:solidFill>
                  <a:srgbClr val="002D47"/>
                </a:solidFill>
                <a:latin typeface="Aptos"/>
              </a:rPr>
              <a:t> </a:t>
            </a:r>
            <a:r>
              <a:rPr sz="1450" b="0" dirty="0" err="1">
                <a:solidFill>
                  <a:srgbClr val="002D47"/>
                </a:solidFill>
                <a:latin typeface="Aptos"/>
              </a:rPr>
              <a:t>bei</a:t>
            </a:r>
            <a:r>
              <a:rPr sz="1450" b="0" dirty="0">
                <a:solidFill>
                  <a:srgbClr val="002D47"/>
                </a:solidFill>
                <a:latin typeface="Aptos"/>
              </a:rPr>
              <a:t> </a:t>
            </a:r>
            <a:r>
              <a:rPr sz="1450" b="0" dirty="0" err="1">
                <a:solidFill>
                  <a:srgbClr val="002D47"/>
                </a:solidFill>
                <a:latin typeface="Aptos"/>
              </a:rPr>
              <a:t>durchgängig</a:t>
            </a:r>
            <a:r>
              <a:rPr sz="1450" b="0" dirty="0">
                <a:solidFill>
                  <a:srgbClr val="002D47"/>
                </a:solidFill>
                <a:latin typeface="Aptos"/>
              </a:rPr>
              <a:t> </a:t>
            </a:r>
            <a:r>
              <a:rPr sz="1450" b="0" dirty="0" err="1">
                <a:solidFill>
                  <a:srgbClr val="002D47"/>
                </a:solidFill>
                <a:latin typeface="Aptos"/>
              </a:rPr>
              <a:t>schwachem</a:t>
            </a:r>
            <a:r>
              <a:rPr sz="1450" b="0" dirty="0">
                <a:solidFill>
                  <a:srgbClr val="002D47"/>
                </a:solidFill>
                <a:latin typeface="Aptos"/>
              </a:rPr>
              <a:t> </a:t>
            </a:r>
            <a:r>
              <a:rPr sz="1450" b="0" dirty="0" err="1">
                <a:solidFill>
                  <a:srgbClr val="002D47"/>
                </a:solidFill>
                <a:latin typeface="Aptos"/>
              </a:rPr>
              <a:t>Inhalt</a:t>
            </a:r>
            <a:r>
              <a:rPr sz="1450" b="0" dirty="0">
                <a:solidFill>
                  <a:srgbClr val="002D47"/>
                </a:solidFill>
                <a:latin typeface="Aptos"/>
              </a:rPr>
              <a:t> </a:t>
            </a:r>
            <a:r>
              <a:rPr sz="1450" b="0" dirty="0" err="1">
                <a:solidFill>
                  <a:srgbClr val="002D47"/>
                </a:solidFill>
                <a:latin typeface="Aptos"/>
              </a:rPr>
              <a:t>dennoch</a:t>
            </a:r>
            <a:r>
              <a:rPr sz="1450" b="0" dirty="0">
                <a:solidFill>
                  <a:srgbClr val="002D47"/>
                </a:solidFill>
                <a:latin typeface="Aptos"/>
              </a:rPr>
              <a:t> </a:t>
            </a:r>
            <a:r>
              <a:rPr sz="1450" b="0" dirty="0" err="1">
                <a:solidFill>
                  <a:srgbClr val="002D47"/>
                </a:solidFill>
                <a:latin typeface="Aptos"/>
              </a:rPr>
              <a:t>widerspruchsfrei</a:t>
            </a:r>
            <a:r>
              <a:rPr sz="1450" b="0" dirty="0">
                <a:solidFill>
                  <a:srgbClr val="002D47"/>
                </a:solidFill>
                <a:latin typeface="Aptos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894410"/>
            <a:ext cx="402336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>
                <a:solidFill>
                  <a:srgbClr val="00FF00"/>
                </a:solidFill>
                <a:latin typeface="Aptos Display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3876122"/>
            <a:ext cx="3931920" cy="685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dirty="0" err="1">
                <a:solidFill>
                  <a:srgbClr val="002D47"/>
                </a:solidFill>
                <a:latin typeface="Aptos"/>
              </a:rPr>
              <a:t>Mittelung</a:t>
            </a:r>
            <a:r>
              <a:rPr sz="1700" b="1" dirty="0">
                <a:solidFill>
                  <a:srgbClr val="002D47"/>
                </a:solidFill>
                <a:latin typeface="Aptos"/>
              </a:rPr>
              <a:t> </a:t>
            </a:r>
            <a:r>
              <a:rPr sz="1700" b="1" dirty="0" err="1">
                <a:solidFill>
                  <a:srgbClr val="002D47"/>
                </a:solidFill>
                <a:latin typeface="Aptos"/>
              </a:rPr>
              <a:t>kompensiert</a:t>
            </a:r>
            <a:r>
              <a:rPr sz="1700" b="1" dirty="0">
                <a:solidFill>
                  <a:srgbClr val="002D47"/>
                </a:solidFill>
                <a:latin typeface="Aptos"/>
              </a:rPr>
              <a:t> </a:t>
            </a:r>
            <a:r>
              <a:rPr sz="1700" b="1" dirty="0" err="1">
                <a:solidFill>
                  <a:srgbClr val="002D47"/>
                </a:solidFill>
                <a:latin typeface="Aptos"/>
              </a:rPr>
              <a:t>harte</a:t>
            </a:r>
            <a:r>
              <a:rPr sz="1700" b="1" dirty="0">
                <a:solidFill>
                  <a:srgbClr val="002D47"/>
                </a:solidFill>
                <a:latin typeface="Aptos"/>
              </a:rPr>
              <a:t> </a:t>
            </a:r>
            <a:r>
              <a:rPr sz="1700" b="1" dirty="0" err="1">
                <a:solidFill>
                  <a:srgbClr val="002D47"/>
                </a:solidFill>
                <a:latin typeface="Aptos"/>
              </a:rPr>
              <a:t>Defizite</a:t>
            </a:r>
            <a:r>
              <a:rPr sz="1700" b="1" dirty="0">
                <a:solidFill>
                  <a:srgbClr val="002D47"/>
                </a:solidFill>
                <a:latin typeface="Aptos"/>
              </a:rPr>
              <a:t>
</a:t>
            </a:r>
            <a:r>
              <a:rPr sz="1450" b="0" dirty="0">
                <a:solidFill>
                  <a:srgbClr val="002D47"/>
                </a:solidFill>
                <a:latin typeface="Aptos"/>
              </a:rPr>
              <a:t>Die </a:t>
            </a:r>
            <a:r>
              <a:rPr sz="1450" b="0" dirty="0" err="1">
                <a:solidFill>
                  <a:srgbClr val="002D47"/>
                </a:solidFill>
                <a:latin typeface="Aptos"/>
              </a:rPr>
              <a:t>ungewichtete</a:t>
            </a:r>
            <a:r>
              <a:rPr sz="1450" b="0" dirty="0">
                <a:solidFill>
                  <a:srgbClr val="002D47"/>
                </a:solidFill>
                <a:latin typeface="Aptos"/>
              </a:rPr>
              <a:t> </a:t>
            </a:r>
            <a:r>
              <a:rPr sz="1450" b="0" dirty="0" err="1">
                <a:solidFill>
                  <a:srgbClr val="002D47"/>
                </a:solidFill>
                <a:latin typeface="Aptos"/>
              </a:rPr>
              <a:t>Mittelung</a:t>
            </a:r>
            <a:r>
              <a:rPr sz="1450" b="0" dirty="0">
                <a:solidFill>
                  <a:srgbClr val="002D47"/>
                </a:solidFill>
                <a:latin typeface="Aptos"/>
              </a:rPr>
              <a:t> </a:t>
            </a:r>
            <a:r>
              <a:rPr sz="1450" b="0" dirty="0" err="1">
                <a:solidFill>
                  <a:srgbClr val="002D47"/>
                </a:solidFill>
                <a:latin typeface="Aptos"/>
              </a:rPr>
              <a:t>über</a:t>
            </a:r>
            <a:r>
              <a:rPr sz="1450" b="0" dirty="0">
                <a:solidFill>
                  <a:srgbClr val="002D47"/>
                </a:solidFill>
                <a:latin typeface="Aptos"/>
              </a:rPr>
              <a:t> </a:t>
            </a:r>
            <a:r>
              <a:rPr sz="1450" b="0" dirty="0" err="1">
                <a:solidFill>
                  <a:srgbClr val="002D47"/>
                </a:solidFill>
                <a:latin typeface="Aptos"/>
              </a:rPr>
              <a:t>sechs</a:t>
            </a:r>
            <a:r>
              <a:rPr sz="1450" b="0" dirty="0">
                <a:solidFill>
                  <a:srgbClr val="002D47"/>
                </a:solidFill>
                <a:latin typeface="Aptos"/>
              </a:rPr>
              <a:t> </a:t>
            </a:r>
            <a:r>
              <a:rPr sz="1450" b="0" dirty="0" err="1">
                <a:solidFill>
                  <a:srgbClr val="002D47"/>
                </a:solidFill>
                <a:latin typeface="Aptos"/>
              </a:rPr>
              <a:t>Teilkriterien</a:t>
            </a:r>
            <a:r>
              <a:rPr sz="1450" b="0" dirty="0">
                <a:solidFill>
                  <a:srgbClr val="002D47"/>
                </a:solidFill>
                <a:latin typeface="Aptos"/>
              </a:rPr>
              <a:t> </a:t>
            </a:r>
            <a:r>
              <a:rPr sz="1450" b="0" dirty="0" err="1">
                <a:solidFill>
                  <a:srgbClr val="002D47"/>
                </a:solidFill>
                <a:latin typeface="Aptos"/>
              </a:rPr>
              <a:t>neutralisiert</a:t>
            </a:r>
            <a:r>
              <a:rPr sz="1450" b="0" dirty="0">
                <a:solidFill>
                  <a:srgbClr val="002D47"/>
                </a:solidFill>
                <a:latin typeface="Aptos"/>
              </a:rPr>
              <a:t> </a:t>
            </a:r>
            <a:r>
              <a:rPr sz="1450" b="0" dirty="0" err="1">
                <a:solidFill>
                  <a:srgbClr val="002D47"/>
                </a:solidFill>
                <a:latin typeface="Aptos"/>
              </a:rPr>
              <a:t>ein</a:t>
            </a:r>
            <a:r>
              <a:rPr sz="1450" b="0" dirty="0">
                <a:solidFill>
                  <a:srgbClr val="002D47"/>
                </a:solidFill>
                <a:latin typeface="Aptos"/>
              </a:rPr>
              <a:t> </a:t>
            </a:r>
            <a:r>
              <a:rPr sz="1450" b="0" dirty="0" err="1">
                <a:solidFill>
                  <a:srgbClr val="002D47"/>
                </a:solidFill>
                <a:latin typeface="Aptos"/>
              </a:rPr>
              <a:t>einzelnes</a:t>
            </a:r>
            <a:r>
              <a:rPr sz="1450" b="0" dirty="0">
                <a:solidFill>
                  <a:srgbClr val="002D47"/>
                </a:solidFill>
                <a:latin typeface="Aptos"/>
              </a:rPr>
              <a:t> </a:t>
            </a:r>
            <a:r>
              <a:rPr sz="1450" b="0" dirty="0" err="1">
                <a:solidFill>
                  <a:srgbClr val="002D47"/>
                </a:solidFill>
                <a:latin typeface="Aptos"/>
              </a:rPr>
              <a:t>hartes</a:t>
            </a:r>
            <a:r>
              <a:rPr sz="1450" b="0" dirty="0">
                <a:solidFill>
                  <a:srgbClr val="002D47"/>
                </a:solidFill>
                <a:latin typeface="Aptos"/>
              </a:rPr>
              <a:t> </a:t>
            </a:r>
            <a:r>
              <a:rPr sz="1450" b="0" dirty="0" err="1">
                <a:solidFill>
                  <a:srgbClr val="002D47"/>
                </a:solidFill>
                <a:latin typeface="Aptos"/>
              </a:rPr>
              <a:t>Defizit</a:t>
            </a:r>
            <a:r>
              <a:rPr sz="1450" b="0" dirty="0">
                <a:solidFill>
                  <a:srgbClr val="002D47"/>
                </a:solidFill>
                <a:latin typeface="Aptos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5294376"/>
            <a:ext cx="4434840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 dirty="0" err="1">
                <a:solidFill>
                  <a:srgbClr val="002D47"/>
                </a:solidFill>
                <a:latin typeface="Aptos"/>
              </a:rPr>
              <a:t>Kernstichprobe</a:t>
            </a:r>
            <a:r>
              <a:rPr sz="1600" b="1" dirty="0">
                <a:solidFill>
                  <a:srgbClr val="002D47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002D47"/>
                </a:solidFill>
                <a:latin typeface="Aptos"/>
              </a:rPr>
              <a:t>unauffällig</a:t>
            </a:r>
            <a:r>
              <a:rPr sz="1600" b="1" dirty="0">
                <a:solidFill>
                  <a:srgbClr val="002D47"/>
                </a:solidFill>
                <a:latin typeface="Aptos"/>
              </a:rPr>
              <a:t>: ρ = 0,569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87568" y="3346704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70818C"/>
                </a:solidFill>
                <a:latin typeface="Aptos Display"/>
              </a:rPr>
              <a:t>DIMENSIONSKORRELATION MANUELL EINFÜGEN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87568" y="3694176"/>
            <a:ext cx="530352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70818C"/>
                </a:solidFill>
                <a:latin typeface="Aptos"/>
              </a:rPr>
              <a:t>thesis/images/gt_extremfaelle_rho_dimension.png</a:t>
            </a:r>
          </a:p>
        </p:txBody>
      </p:sp>
      <p:sp>
        <p:nvSpPr>
          <p:cNvPr id="19" name="Datumsplatzhalter 3">
            <a:extLst>
              <a:ext uri="{FF2B5EF4-FFF2-40B4-BE49-F238E27FC236}">
                <a16:creationId xmlns:a16="http://schemas.microsoft.com/office/drawing/2014/main" id="{E342F399-BB0E-14F8-4EA4-417A6ABA9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14. September 2026</a:t>
            </a:r>
          </a:p>
        </p:txBody>
      </p:sp>
      <p:sp>
        <p:nvSpPr>
          <p:cNvPr id="20" name="Fußzeilenplatzhalter 4">
            <a:extLst>
              <a:ext uri="{FF2B5EF4-FFF2-40B4-BE49-F238E27FC236}">
                <a16:creationId xmlns:a16="http://schemas.microsoft.com/office/drawing/2014/main" id="{261C2C29-9A68-ADDC-AC07-C28CDE9EC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 E I T E N B A U</a:t>
            </a:r>
            <a:endParaRPr lang="de-DE"/>
          </a:p>
        </p:txBody>
      </p:sp>
      <p:sp>
        <p:nvSpPr>
          <p:cNvPr id="21" name="Foliennummernplatzhalter 5">
            <a:extLst>
              <a:ext uri="{FF2B5EF4-FFF2-40B4-BE49-F238E27FC236}">
                <a16:creationId xmlns:a16="http://schemas.microsoft.com/office/drawing/2014/main" id="{5BB6EE48-E9AC-A61E-4970-A74A57378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17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0F3724C5-437D-FDCA-B85C-46CA44D827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6720" y="1598127"/>
            <a:ext cx="5852160" cy="292006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Ein Beispiel: Justizblatt-Datensatz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188720"/>
            <a:ext cx="1046988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2D47"/>
                </a:solidFill>
                <a:latin typeface="Aptos Display"/>
              </a:rPr>
              <a:t>WARUM EIN HARTES DEFIZIT IM MITTEL VERSCHWINDET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719072"/>
            <a:ext cx="37947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2D47"/>
                </a:solidFill>
                <a:latin typeface="Aptos Display"/>
              </a:rPr>
              <a:t>METADATEN-AUSSCHNITT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2341400"/>
            <a:ext cx="41148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300" b="0">
                <a:solidFill>
                  <a:srgbClr val="E40014"/>
                </a:solidFill>
                <a:latin typeface="Arial"/>
              </a:rPr>
              <a:t>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3312" y="2275452"/>
            <a:ext cx="3017520" cy="10972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dirty="0" err="1">
                <a:solidFill>
                  <a:srgbClr val="002D47"/>
                </a:solidFill>
                <a:latin typeface="Aptos"/>
              </a:rPr>
              <a:t>Beschreibung</a:t>
            </a:r>
            <a:r>
              <a:rPr sz="1700" b="1" dirty="0">
                <a:solidFill>
                  <a:srgbClr val="002D47"/>
                </a:solidFill>
                <a:latin typeface="Aptos"/>
              </a:rPr>
              <a:t>
</a:t>
            </a:r>
            <a:r>
              <a:rPr sz="2800" b="1" dirty="0">
                <a:solidFill>
                  <a:srgbClr val="002D47"/>
                </a:solidFill>
                <a:latin typeface="Aptos"/>
              </a:rPr>
              <a:t>„</a:t>
            </a:r>
            <a:r>
              <a:rPr sz="2800" b="1" dirty="0" err="1">
                <a:solidFill>
                  <a:srgbClr val="002D47"/>
                </a:solidFill>
                <a:latin typeface="Aptos"/>
              </a:rPr>
              <a:t>Justizblatt</a:t>
            </a:r>
            <a:r>
              <a:rPr sz="2800" b="1" dirty="0">
                <a:solidFill>
                  <a:srgbClr val="002D47"/>
                </a:solidFill>
                <a:latin typeface="Aptos"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3694176"/>
            <a:ext cx="384048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dirty="0">
                <a:solidFill>
                  <a:srgbClr val="002D47"/>
                </a:solidFill>
                <a:latin typeface="Aptos"/>
              </a:rPr>
              <a:t>Ein Wort </a:t>
            </a:r>
            <a:r>
              <a:rPr sz="1800" b="0" dirty="0" err="1">
                <a:solidFill>
                  <a:srgbClr val="002D47"/>
                </a:solidFill>
                <a:latin typeface="Aptos"/>
              </a:rPr>
              <a:t>liefert</a:t>
            </a:r>
            <a:r>
              <a:rPr sz="1800" b="0" dirty="0">
                <a:solidFill>
                  <a:srgbClr val="002D47"/>
                </a:solidFill>
                <a:latin typeface="Aptos"/>
              </a:rPr>
              <a:t> </a:t>
            </a:r>
            <a:r>
              <a:rPr sz="1800" b="0" dirty="0" err="1">
                <a:solidFill>
                  <a:srgbClr val="002D47"/>
                </a:solidFill>
                <a:latin typeface="Aptos"/>
              </a:rPr>
              <a:t>kaum</a:t>
            </a:r>
            <a:r>
              <a:rPr sz="1800" b="0" dirty="0">
                <a:solidFill>
                  <a:srgbClr val="002D47"/>
                </a:solidFill>
                <a:latin typeface="Aptos"/>
              </a:rPr>
              <a:t> </a:t>
            </a:r>
            <a:r>
              <a:rPr sz="1800" b="0" dirty="0" err="1">
                <a:solidFill>
                  <a:srgbClr val="002D47"/>
                </a:solidFill>
                <a:latin typeface="Aptos"/>
              </a:rPr>
              <a:t>Kontext</a:t>
            </a:r>
            <a:r>
              <a:rPr sz="1800" b="0" dirty="0">
                <a:solidFill>
                  <a:srgbClr val="002D47"/>
                </a:solidFill>
                <a:latin typeface="Aptos"/>
              </a:rPr>
              <a:t>, Zweck </a:t>
            </a:r>
            <a:r>
              <a:rPr sz="1800" b="0" dirty="0" err="1">
                <a:solidFill>
                  <a:srgbClr val="002D47"/>
                </a:solidFill>
                <a:latin typeface="Aptos"/>
              </a:rPr>
              <a:t>oder</a:t>
            </a:r>
            <a:r>
              <a:rPr sz="1800" b="0" dirty="0">
                <a:solidFill>
                  <a:srgbClr val="002D47"/>
                </a:solidFill>
                <a:latin typeface="Aptos"/>
              </a:rPr>
              <a:t> </a:t>
            </a:r>
            <a:r>
              <a:rPr sz="1800" b="0" dirty="0" err="1">
                <a:solidFill>
                  <a:srgbClr val="002D47"/>
                </a:solidFill>
                <a:latin typeface="Aptos"/>
              </a:rPr>
              <a:t>thematische</a:t>
            </a:r>
            <a:r>
              <a:rPr sz="1800" b="0" dirty="0">
                <a:solidFill>
                  <a:srgbClr val="002D47"/>
                </a:solidFill>
                <a:latin typeface="Aptos"/>
              </a:rPr>
              <a:t> </a:t>
            </a:r>
            <a:r>
              <a:rPr sz="1800" b="0" dirty="0" err="1">
                <a:solidFill>
                  <a:srgbClr val="002D47"/>
                </a:solidFill>
                <a:latin typeface="Aptos"/>
              </a:rPr>
              <a:t>Einordnung</a:t>
            </a:r>
            <a:r>
              <a:rPr sz="1800" b="0" dirty="0">
                <a:solidFill>
                  <a:srgbClr val="002D47"/>
                </a:solidFill>
                <a:latin typeface="Aptos"/>
              </a:rPr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7488" y="1508760"/>
            <a:ext cx="14630" cy="4315968"/>
          </a:xfrm>
          <a:prstGeom prst="rect">
            <a:avLst/>
          </a:prstGeom>
          <a:solidFill>
            <a:srgbClr val="708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40680" y="1719072"/>
            <a:ext cx="574243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2D47"/>
                </a:solidFill>
                <a:latin typeface="Aptos Display"/>
              </a:rPr>
              <a:t>BEWERTUNG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2139696"/>
            <a:ext cx="347472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1" dirty="0" err="1">
                <a:solidFill>
                  <a:srgbClr val="002D47"/>
                </a:solidFill>
                <a:latin typeface="Aptos"/>
              </a:rPr>
              <a:t>Beschreibungsqualität</a:t>
            </a:r>
            <a:endParaRPr sz="1800" b="1" dirty="0">
              <a:solidFill>
                <a:srgbClr val="002D47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235440" y="2075688"/>
            <a:ext cx="192024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2400" b="1">
                <a:solidFill>
                  <a:srgbClr val="E40014"/>
                </a:solidFill>
                <a:latin typeface="Aptos Display"/>
              </a:rPr>
              <a:t>FAIL · 0,15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40680" y="2761488"/>
            <a:ext cx="5733288" cy="10972"/>
          </a:xfrm>
          <a:prstGeom prst="rect">
            <a:avLst/>
          </a:prstGeom>
          <a:solidFill>
            <a:srgbClr val="708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40680" y="3090672"/>
            <a:ext cx="388620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2D47"/>
                </a:solidFill>
                <a:latin typeface="Aptos"/>
              </a:rPr>
              <a:t>Übrige 5 Kriterien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3728" y="3026664"/>
            <a:ext cx="19202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2400" b="1">
                <a:solidFill>
                  <a:srgbClr val="002D47"/>
                </a:solidFill>
                <a:latin typeface="Aptos Display"/>
              </a:rPr>
              <a:t>0,65–0,95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40680" y="3758184"/>
            <a:ext cx="5733288" cy="10972"/>
          </a:xfrm>
          <a:prstGeom prst="rect">
            <a:avLst/>
          </a:prstGeom>
          <a:solidFill>
            <a:srgbClr val="708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40680" y="4096512"/>
            <a:ext cx="384048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2D47"/>
                </a:solidFill>
                <a:latin typeface="Aptos"/>
              </a:rPr>
              <a:t>Gemittelter Dimensionswert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63456" y="3977639"/>
            <a:ext cx="1810512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3600" b="1" dirty="0">
                <a:solidFill>
                  <a:srgbClr val="00FF00"/>
                </a:solidFill>
                <a:latin typeface="Aptos Display"/>
              </a:rPr>
              <a:t>0,72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5879592"/>
            <a:ext cx="104424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70818C"/>
                </a:solidFill>
                <a:latin typeface="Aptos"/>
              </a:rPr>
              <a:t>Ein einzelnes hartes Defizit wird durch fünf unauffällige Werte praktisch neutralisiert.</a:t>
            </a:r>
          </a:p>
        </p:txBody>
      </p:sp>
      <p:sp>
        <p:nvSpPr>
          <p:cNvPr id="22" name="Datumsplatzhalter 3">
            <a:extLst>
              <a:ext uri="{FF2B5EF4-FFF2-40B4-BE49-F238E27FC236}">
                <a16:creationId xmlns:a16="http://schemas.microsoft.com/office/drawing/2014/main" id="{E342F399-BB0E-14F8-4EA4-417A6ABA9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14. September 2026</a:t>
            </a:r>
          </a:p>
        </p:txBody>
      </p:sp>
      <p:sp>
        <p:nvSpPr>
          <p:cNvPr id="23" name="Fußzeilenplatzhalter 4">
            <a:extLst>
              <a:ext uri="{FF2B5EF4-FFF2-40B4-BE49-F238E27FC236}">
                <a16:creationId xmlns:a16="http://schemas.microsoft.com/office/drawing/2014/main" id="{261C2C29-9A68-ADDC-AC07-C28CDE9EC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 E I T E N B A U</a:t>
            </a:r>
            <a:endParaRPr lang="de-DE"/>
          </a:p>
        </p:txBody>
      </p:sp>
      <p:sp>
        <p:nvSpPr>
          <p:cNvPr id="24" name="Foliennummernplatzhalter 5">
            <a:extLst>
              <a:ext uri="{FF2B5EF4-FFF2-40B4-BE49-F238E27FC236}">
                <a16:creationId xmlns:a16="http://schemas.microsoft.com/office/drawing/2014/main" id="{5BB6EE48-E9AC-A61E-4970-A74A57378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Kuratiertes Extrembeispiel: „Justizblatt“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188720"/>
            <a:ext cx="10469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70818C"/>
                </a:solidFill>
                <a:latin typeface="Aptos Display"/>
              </a:rPr>
              <a:t>BEISPIEL AN EINEM METADATENSATZ AUS DER KURATIERTEN EXTREMFALL-STICHPROBE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627632"/>
            <a:ext cx="354787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2D47"/>
                </a:solidFill>
                <a:latin typeface="Aptos Display"/>
              </a:rPr>
              <a:t>1  ·  METADATENSATZ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975104"/>
            <a:ext cx="35478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2D47"/>
                </a:solidFill>
                <a:latin typeface="Aptos"/>
              </a:rPr>
              <a:t>Feld: Beschreibung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2386584"/>
            <a:ext cx="50292" cy="612648"/>
          </a:xfrm>
          <a:prstGeom prst="rect">
            <a:avLst/>
          </a:prstGeom>
          <a:solidFill>
            <a:srgbClr val="E4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24128" y="2331720"/>
            <a:ext cx="321868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002D47"/>
                </a:solidFill>
                <a:latin typeface="Aptos Display"/>
              </a:rPr>
              <a:t>„Justizblatt“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044952"/>
            <a:ext cx="3493008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70818C"/>
                </a:solidFill>
                <a:latin typeface="Aptos"/>
              </a:rPr>
              <a:t>Nur ein Wort – kaum Kontext, Zweck oder thematische Einordnung.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352544" y="2386584"/>
            <a:ext cx="548640" cy="283464"/>
          </a:xfrm>
          <a:prstGeom prst="rightArrow">
            <a:avLst/>
          </a:prstGeom>
          <a:solidFill>
            <a:srgbClr val="00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57216" y="1627632"/>
            <a:ext cx="526694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2D47"/>
                </a:solidFill>
                <a:latin typeface="Aptos Display"/>
              </a:rPr>
              <a:t>2  ·  TEILKRITERIUM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57216" y="1975104"/>
            <a:ext cx="34015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2D47"/>
                </a:solidFill>
                <a:latin typeface="Aptos"/>
              </a:rPr>
              <a:t>Beschreibungsqualität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1920240"/>
            <a:ext cx="155448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E40014"/>
                </a:solidFill>
                <a:latin typeface="Aptos Display"/>
              </a:rPr>
              <a:t>FAIL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2359152"/>
            <a:ext cx="2176272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E40014"/>
                </a:solidFill>
                <a:latin typeface="Aptos Display"/>
              </a:rPr>
              <a:t>0,15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11112" y="2596896"/>
            <a:ext cx="35204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E40014"/>
                </a:solidFill>
                <a:latin typeface="Aptos"/>
              </a:rPr>
              <a:t>hartes Defizit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57216" y="3044952"/>
            <a:ext cx="512064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70818C"/>
                </a:solidFill>
                <a:latin typeface="Aptos"/>
              </a:rPr>
              <a:t>Die knappe Beschreibung fällt im entscheidenden Teilkriterium deutlich ab.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1248" y="3785615"/>
            <a:ext cx="9628632" cy="10972"/>
          </a:xfrm>
          <a:prstGeom prst="rect">
            <a:avLst/>
          </a:prstGeom>
          <a:solidFill>
            <a:srgbClr val="D5DD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1248" y="3968496"/>
            <a:ext cx="96286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2D47"/>
                </a:solidFill>
                <a:latin typeface="Aptos Display"/>
              </a:rPr>
              <a:t>3  ·  MITTELUNG ZUM DIMENSIONSWERT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" y="4352544"/>
            <a:ext cx="13258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E40014"/>
                </a:solidFill>
                <a:latin typeface="Aptos Display"/>
              </a:rPr>
              <a:t>0,15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4919472"/>
            <a:ext cx="190195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40014"/>
                </a:solidFill>
                <a:latin typeface="Aptos"/>
              </a:rPr>
              <a:t>1 hartes Defizit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96312" y="4434840"/>
            <a:ext cx="3657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00" b="0">
                <a:solidFill>
                  <a:srgbClr val="70818C"/>
                </a:solidFill>
                <a:latin typeface="Aptos"/>
              </a:rPr>
              <a:t>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26664" y="4325112"/>
            <a:ext cx="292608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02D47"/>
                </a:solidFill>
                <a:latin typeface="Aptos Display"/>
              </a:rPr>
              <a:t>5 × 0,65–0,95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18688" y="4919472"/>
            <a:ext cx="254203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70818C"/>
                </a:solidFill>
                <a:latin typeface="Aptos"/>
              </a:rPr>
              <a:t>übrige Kriterien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44768" y="4434840"/>
            <a:ext cx="384048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00" b="0">
                <a:solidFill>
                  <a:srgbClr val="70818C"/>
                </a:solidFill>
                <a:latin typeface="Aptos"/>
              </a:rPr>
              <a:t>=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29984" y="4297680"/>
            <a:ext cx="50292" cy="758952"/>
          </a:xfrm>
          <a:prstGeom prst="rect">
            <a:avLst/>
          </a:prstGeom>
          <a:solidFill>
            <a:srgbClr val="00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958584" y="4261104"/>
            <a:ext cx="210312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300" b="1">
                <a:solidFill>
                  <a:srgbClr val="00E500"/>
                </a:solidFill>
                <a:latin typeface="Aptos Display"/>
              </a:rPr>
              <a:t>0,72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85432" y="4919472"/>
            <a:ext cx="2258568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2D47"/>
                </a:solidFill>
                <a:latin typeface="Aptos"/>
              </a:rPr>
              <a:t>gemittelter Wert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" y="5404104"/>
            <a:ext cx="962863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2D47"/>
                </a:solidFill>
                <a:latin typeface="Aptos"/>
              </a:rPr>
              <a:t>Das Beispiel zeigt: Ein hartes Defizit wird durch fünf unauffällige Werte praktisch neutralisiert.</a:t>
            </a:r>
          </a:p>
        </p:txBody>
      </p:sp>
      <p:sp>
        <p:nvSpPr>
          <p:cNvPr id="31" name="Datumsplatzhalter 3">
            <a:extLst>
              <a:ext uri="{FF2B5EF4-FFF2-40B4-BE49-F238E27FC236}">
                <a16:creationId xmlns:a16="http://schemas.microsoft.com/office/drawing/2014/main" id="{E342F399-BB0E-14F8-4EA4-417A6ABA9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14. September 2026</a:t>
            </a:r>
          </a:p>
        </p:txBody>
      </p:sp>
      <p:sp>
        <p:nvSpPr>
          <p:cNvPr id="32" name="Fußzeilenplatzhalter 4">
            <a:extLst>
              <a:ext uri="{FF2B5EF4-FFF2-40B4-BE49-F238E27FC236}">
                <a16:creationId xmlns:a16="http://schemas.microsoft.com/office/drawing/2014/main" id="{261C2C29-9A68-ADDC-AC07-C28CDE9EC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S E I T E N B A U</a:t>
            </a:r>
            <a:endParaRPr lang="de-DE" dirty="0"/>
          </a:p>
        </p:txBody>
      </p:sp>
      <p:sp>
        <p:nvSpPr>
          <p:cNvPr id="33" name="Foliennummernplatzhalter 5">
            <a:extLst>
              <a:ext uri="{FF2B5EF4-FFF2-40B4-BE49-F238E27FC236}">
                <a16:creationId xmlns:a16="http://schemas.microsoft.com/office/drawing/2014/main" id="{5BB6EE48-E9AC-A61E-4970-A74A57378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dirty="0"/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 err="1"/>
              <a:t>Antworten</a:t>
            </a:r>
            <a:r>
              <a:rPr dirty="0"/>
              <a:t> auf die </a:t>
            </a:r>
            <a:r>
              <a:rPr dirty="0" err="1"/>
              <a:t>Teilfragen</a:t>
            </a:r>
            <a:endParaRPr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9764750"/>
              </p:ext>
            </p:extLst>
          </p:nvPr>
        </p:nvGraphicFramePr>
        <p:xfrm>
          <a:off x="863600" y="1391920"/>
          <a:ext cx="10501994" cy="4616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54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865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83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ptos Display"/>
                        </a:rPr>
                        <a:t>Teilfrage</a:t>
                      </a:r>
                    </a:p>
                  </a:txBody>
                  <a:tcPr marL="164592" marR="128016" marT="73152" anchor="ctr">
                    <a:solidFill>
                      <a:srgbClr val="002D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ptos Display"/>
                        </a:rPr>
                        <a:t>Antwort in einem Satz</a:t>
                      </a:r>
                    </a:p>
                  </a:txBody>
                  <a:tcPr marL="164592" marR="128016" marT="73152" anchor="ctr">
                    <a:solidFill>
                      <a:srgbClr val="002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5722"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00FF00"/>
                          </a:solidFill>
                          <a:latin typeface="Aptos"/>
                        </a:rPr>
                        <a:t>TF1</a:t>
                      </a:r>
                    </a:p>
                  </a:txBody>
                  <a:tcPr marL="164592" marR="128016" marT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002D47"/>
                          </a:solidFill>
                          <a:latin typeface="Aptos"/>
                        </a:rPr>
                        <a:t>Bestehende Ansätze sind schichtweise übertragbar; entscheidend ist die Prüfbarkeit aus dem Metadatensatz.</a:t>
                      </a:r>
                    </a:p>
                  </a:txBody>
                  <a:tcPr marL="164592" marR="128016" marT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5722"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00FF00"/>
                          </a:solidFill>
                          <a:latin typeface="Aptos"/>
                        </a:rPr>
                        <a:t>TF2</a:t>
                      </a:r>
                    </a:p>
                  </a:txBody>
                  <a:tcPr marL="164592" marR="128016" marT="73152"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002D47"/>
                          </a:solidFill>
                          <a:latin typeface="Aptos"/>
                        </a:rPr>
                        <a:t>Vier Dimensionen, 27 Indikatoren, vier von fünf Interview-Anforderungen umgesetzt.</a:t>
                      </a:r>
                    </a:p>
                  </a:txBody>
                  <a:tcPr marL="164592" marR="128016" marT="73152" anchor="ctr">
                    <a:solidFill>
                      <a:srgbClr val="F2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5722"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00FF00"/>
                          </a:solidFill>
                          <a:latin typeface="Aptos"/>
                        </a:rPr>
                        <a:t>TF3</a:t>
                      </a:r>
                    </a:p>
                  </a:txBody>
                  <a:tcPr marL="164592" marR="128016" marT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002D47"/>
                          </a:solidFill>
                          <a:latin typeface="Aptos"/>
                        </a:rPr>
                        <a:t>LLM-gestützte Aussagekraft ergänzt das Modell nachvollziehbar, bleibt aber schwächste Dimension.</a:t>
                      </a:r>
                    </a:p>
                  </a:txBody>
                  <a:tcPr marL="164592" marR="128016" marT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5722"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00FF00"/>
                          </a:solidFill>
                          <a:latin typeface="Aptos"/>
                        </a:rPr>
                        <a:t>TF4</a:t>
                      </a:r>
                    </a:p>
                  </a:txBody>
                  <a:tcPr marL="164592" marR="128016" marT="73152"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002D47"/>
                          </a:solidFill>
                          <a:latin typeface="Aptos"/>
                        </a:rPr>
                        <a:t>Durchgehende Verarbeitungspipeline mit vier zentralen Messmodell-Entscheidungen.</a:t>
                      </a:r>
                    </a:p>
                  </a:txBody>
                  <a:tcPr marL="164592" marR="128016" marT="73152" anchor="ctr">
                    <a:solidFill>
                      <a:srgbClr val="F2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15722"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00FF00"/>
                          </a:solidFill>
                          <a:latin typeface="Aptos"/>
                        </a:rPr>
                        <a:t>TF5</a:t>
                      </a:r>
                    </a:p>
                  </a:txBody>
                  <a:tcPr marL="164592" marR="128016" marT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002D47"/>
                          </a:solidFill>
                          <a:latin typeface="Aptos"/>
                        </a:rPr>
                        <a:t>Einheitlicher Befund mit Handlungsanweisung statt Punktzahl; empirisch nicht mit Datenbereitstellenden geprüft.</a:t>
                      </a:r>
                    </a:p>
                  </a:txBody>
                  <a:tcPr marL="164592" marR="128016" marT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Datumsplatzhalter 3">
            <a:extLst>
              <a:ext uri="{FF2B5EF4-FFF2-40B4-BE49-F238E27FC236}">
                <a16:creationId xmlns:a16="http://schemas.microsoft.com/office/drawing/2014/main" id="{E342F399-BB0E-14F8-4EA4-417A6ABA9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14. September 2026</a:t>
            </a:r>
          </a:p>
        </p:txBody>
      </p:sp>
      <p:sp>
        <p:nvSpPr>
          <p:cNvPr id="9" name="Fußzeilenplatzhalter 4">
            <a:extLst>
              <a:ext uri="{FF2B5EF4-FFF2-40B4-BE49-F238E27FC236}">
                <a16:creationId xmlns:a16="http://schemas.microsoft.com/office/drawing/2014/main" id="{261C2C29-9A68-ADDC-AC07-C28CDE9EC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 E I T E N B A U</a:t>
            </a:r>
            <a:endParaRPr lang="de-DE"/>
          </a:p>
        </p:txBody>
      </p:sp>
      <p:sp>
        <p:nvSpPr>
          <p:cNvPr id="10" name="Foliennummernplatzhalter 5">
            <a:extLst>
              <a:ext uri="{FF2B5EF4-FFF2-40B4-BE49-F238E27FC236}">
                <a16:creationId xmlns:a16="http://schemas.microsoft.com/office/drawing/2014/main" id="{5BB6EE48-E9AC-A61E-4970-A74A57378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20040"/>
            <a:ext cx="10972800" cy="658368"/>
          </a:xfrm>
        </p:spPr>
        <p:txBody>
          <a:bodyPr>
            <a:normAutofit fontScale="90000"/>
          </a:bodyPr>
          <a:lstStyle/>
          <a:p>
            <a:r>
              <a:rPr lang="de-DE" dirty="0"/>
              <a:t>Konzeptionelle Grenze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129792"/>
            <a:ext cx="10479024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de-DE" sz="1500" b="1" dirty="0">
                <a:solidFill>
                  <a:srgbClr val="002D47"/>
                </a:solidFill>
                <a:latin typeface="Aptos Display"/>
              </a:rPr>
              <a:t>VOLLSTÄNDIGKEIT DER BEWERTUNG HÄNGT STARK VOM NUTZUNGSKONTEXT 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618488"/>
            <a:ext cx="10479024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de-DE" sz="2000" b="1" dirty="0">
                <a:solidFill>
                  <a:srgbClr val="002D47"/>
                </a:solidFill>
                <a:latin typeface="Aptos Display"/>
              </a:rPr>
              <a:t>Referenzdatensatz: Lübeck Feinstaub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139696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de-DE" sz="1500" b="1">
                <a:solidFill>
                  <a:srgbClr val="00FF00"/>
                </a:solidFill>
                <a:latin typeface="Aptos Display"/>
              </a:rPr>
              <a:t>NUTZUNGSSZENARIO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532888"/>
            <a:ext cx="457200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de-DE" sz="2700" b="1">
                <a:solidFill>
                  <a:srgbClr val="002D47"/>
                </a:solidFill>
                <a:latin typeface="Aptos Display"/>
              </a:rPr>
              <a:t>Einmalige Auswertung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2139696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de-DE" sz="1500" b="1">
                <a:solidFill>
                  <a:srgbClr val="E40014"/>
                </a:solidFill>
                <a:latin typeface="Aptos Display"/>
              </a:rPr>
              <a:t>NUTZUNGSSZENARIO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2532888"/>
            <a:ext cx="457200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de-DE" sz="2700" b="1">
                <a:solidFill>
                  <a:srgbClr val="002D47"/>
                </a:solidFill>
                <a:latin typeface="Aptos Display"/>
              </a:rPr>
              <a:t>Fortlaufender Dienst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3648456"/>
            <a:ext cx="457200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de-DE" sz="1600" b="0">
                <a:solidFill>
                  <a:srgbClr val="002D47"/>
                </a:solidFill>
                <a:latin typeface="Aptos"/>
              </a:rPr>
              <a:t>Grund: </a:t>
            </a:r>
            <a:r>
              <a:rPr sz="1600" b="0">
                <a:solidFill>
                  <a:srgbClr val="002D47"/>
                </a:solidFill>
                <a:latin typeface="Aptos"/>
              </a:rPr>
              <a:t>Aktualisierungsfrequenz fehlt.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32704" y="2121408"/>
            <a:ext cx="14630" cy="1901952"/>
          </a:xfrm>
          <a:prstGeom prst="rect">
            <a:avLst/>
          </a:prstGeom>
          <a:solidFill>
            <a:srgbClr val="D4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8" y="4389120"/>
            <a:ext cx="10479024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de-DE" sz="1500" b="1" dirty="0">
                <a:solidFill>
                  <a:srgbClr val="002D47"/>
                </a:solidFill>
                <a:latin typeface="Aptos Display"/>
              </a:rPr>
              <a:t>KONSEQUENZ FÜR DIE INTERPRETATION</a:t>
            </a:r>
            <a:endParaRPr sz="1500" b="1" dirty="0">
              <a:solidFill>
                <a:srgbClr val="002D47"/>
              </a:solidFill>
              <a:latin typeface="Aptos Display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41248" y="4681728"/>
            <a:ext cx="10287000" cy="10789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lang="de-DE" sz="1800" b="1">
                <a:solidFill>
                  <a:srgbClr val="002D47"/>
                </a:solidFill>
                <a:latin typeface="Aptos"/>
              </a:rPr>
              <a:t>Das Nutzungsszenario ist Teil des Bewertungsmaßstabs.</a:t>
            </a:r>
          </a:p>
          <a:p>
            <a:pPr algn="l"/>
            <a:r>
              <a:rPr lang="de-DE" sz="1900" b="1">
                <a:solidFill>
                  <a:srgbClr val="00FF00"/>
                </a:solidFill>
                <a:latin typeface="Aptos"/>
              </a:rPr>
              <a:t>Die Rangkorrelation von 0,765</a:t>
            </a:r>
            <a:r>
              <a:rPr lang="de-DE" sz="1900" b="1">
                <a:solidFill>
                  <a:srgbClr val="002D47"/>
                </a:solidFill>
                <a:latin typeface="Aptos"/>
              </a:rPr>
              <a:t> zeigt Übereinstimmung mit diesem Maßstab – </a:t>
            </a:r>
            <a:r>
              <a:rPr lang="de-DE" sz="1900" b="1">
                <a:solidFill>
                  <a:srgbClr val="E40014"/>
                </a:solidFill>
                <a:latin typeface="Aptos"/>
              </a:rPr>
              <a:t>nicht objektive Richtigkeit.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" y="2029968"/>
            <a:ext cx="4572000" cy="32004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989320" y="2029968"/>
            <a:ext cx="4572000" cy="32004"/>
          </a:xfrm>
          <a:prstGeom prst="rect">
            <a:avLst/>
          </a:prstGeom>
          <a:solidFill>
            <a:srgbClr val="E4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41248" y="4160520"/>
            <a:ext cx="10479024" cy="18288"/>
          </a:xfrm>
          <a:prstGeom prst="rect">
            <a:avLst/>
          </a:prstGeom>
          <a:solidFill>
            <a:srgbClr val="D4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1248" y="3154680"/>
            <a:ext cx="457200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>
                <a:solidFill>
                  <a:srgbClr val="70818C"/>
                </a:solidFill>
                <a:latin typeface="Aptos"/>
              </a:rPr>
              <a:t>BEWERTUNG  </a:t>
            </a:r>
            <a:r>
              <a:rPr sz="2300" b="1">
                <a:solidFill>
                  <a:srgbClr val="00FF00"/>
                </a:solidFill>
                <a:latin typeface="Aptos Display"/>
              </a:rPr>
              <a:t>vollständig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9320" y="3154680"/>
            <a:ext cx="457200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>
                <a:solidFill>
                  <a:srgbClr val="70818C"/>
                </a:solidFill>
                <a:latin typeface="Aptos"/>
              </a:rPr>
              <a:t>BEWERTUNG  </a:t>
            </a:r>
            <a:r>
              <a:rPr sz="2300" b="1">
                <a:solidFill>
                  <a:srgbClr val="E40014"/>
                </a:solidFill>
                <a:latin typeface="Aptos Display"/>
              </a:rPr>
              <a:t>unvollständig</a:t>
            </a:r>
          </a:p>
        </p:txBody>
      </p:sp>
      <p:sp>
        <p:nvSpPr>
          <p:cNvPr id="21" name="Datumsplatzhalter 3">
            <a:extLst>
              <a:ext uri="{FF2B5EF4-FFF2-40B4-BE49-F238E27FC236}">
                <a16:creationId xmlns:a16="http://schemas.microsoft.com/office/drawing/2014/main" id="{E342F399-BB0E-14F8-4EA4-417A6ABA9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14. September 2026</a:t>
            </a:r>
          </a:p>
        </p:txBody>
      </p:sp>
      <p:sp>
        <p:nvSpPr>
          <p:cNvPr id="22" name="Fußzeilenplatzhalter 4">
            <a:extLst>
              <a:ext uri="{FF2B5EF4-FFF2-40B4-BE49-F238E27FC236}">
                <a16:creationId xmlns:a16="http://schemas.microsoft.com/office/drawing/2014/main" id="{261C2C29-9A68-ADDC-AC07-C28CDE9EC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S E I T E N B A U</a:t>
            </a:r>
            <a:endParaRPr lang="de-DE" dirty="0"/>
          </a:p>
        </p:txBody>
      </p:sp>
      <p:sp>
        <p:nvSpPr>
          <p:cNvPr id="23" name="Foliennummernplatzhalter 5">
            <a:extLst>
              <a:ext uri="{FF2B5EF4-FFF2-40B4-BE49-F238E27FC236}">
                <a16:creationId xmlns:a16="http://schemas.microsoft.com/office/drawing/2014/main" id="{5BB6EE48-E9AC-A61E-4970-A74A57378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Methodische &amp; technische Grenzen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627632"/>
            <a:ext cx="489204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2D47"/>
                </a:solidFill>
                <a:latin typeface="Aptos Display"/>
              </a:rPr>
              <a:t>METHODISCH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2029968"/>
            <a:ext cx="4892040" cy="41148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" y="2331720"/>
            <a:ext cx="20116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FF00"/>
                </a:solidFill>
                <a:latin typeface="Apto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2331720"/>
            <a:ext cx="4553712" cy="3733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50" b="0" dirty="0" err="1">
                <a:solidFill>
                  <a:srgbClr val="002D47"/>
                </a:solidFill>
                <a:latin typeface="Aptos"/>
              </a:rPr>
              <a:t>Gewichte</a:t>
            </a:r>
            <a:r>
              <a:rPr sz="1650" b="0" dirty="0">
                <a:solidFill>
                  <a:srgbClr val="002D47"/>
                </a:solidFill>
                <a:latin typeface="Aptos"/>
              </a:rPr>
              <a:t> </a:t>
            </a:r>
            <a:r>
              <a:rPr sz="1650" b="0" dirty="0" err="1">
                <a:solidFill>
                  <a:srgbClr val="002D47"/>
                </a:solidFill>
                <a:latin typeface="Aptos"/>
              </a:rPr>
              <a:t>begründet</a:t>
            </a:r>
            <a:r>
              <a:rPr sz="1650" b="0" dirty="0">
                <a:solidFill>
                  <a:srgbClr val="002D47"/>
                </a:solidFill>
                <a:latin typeface="Aptos"/>
              </a:rPr>
              <a:t>, </a:t>
            </a:r>
            <a:r>
              <a:rPr sz="1650" b="0" dirty="0" err="1">
                <a:solidFill>
                  <a:srgbClr val="002D47"/>
                </a:solidFill>
                <a:latin typeface="Aptos"/>
              </a:rPr>
              <a:t>aber</a:t>
            </a:r>
            <a:r>
              <a:rPr sz="1650" b="0" dirty="0">
                <a:solidFill>
                  <a:srgbClr val="002D47"/>
                </a:solidFill>
                <a:latin typeface="Aptos"/>
              </a:rPr>
              <a:t> nicht </a:t>
            </a:r>
            <a:r>
              <a:rPr sz="1650" b="0" dirty="0" err="1">
                <a:solidFill>
                  <a:srgbClr val="002D47"/>
                </a:solidFill>
                <a:latin typeface="Aptos"/>
              </a:rPr>
              <a:t>validiert</a:t>
            </a:r>
            <a:r>
              <a:rPr sz="1650" b="0" dirty="0">
                <a:solidFill>
                  <a:srgbClr val="002D47"/>
                </a:solidFill>
                <a:latin typeface="Aptos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145536"/>
            <a:ext cx="20116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FF00"/>
                </a:solidFill>
                <a:latin typeface="Apto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" y="3145536"/>
            <a:ext cx="4553712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002D47"/>
                </a:solidFill>
                <a:latin typeface="Aptos"/>
              </a:rPr>
              <a:t>Referenzbewertung durch eine einzige Person; keine Inter-Rater-Reliabilität bestimmbar.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3879274"/>
            <a:ext cx="20116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FF00"/>
                </a:solidFill>
                <a:latin typeface="Apto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0808" y="3879274"/>
            <a:ext cx="4553712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002D47"/>
                </a:solidFill>
                <a:latin typeface="Aptos"/>
              </a:rPr>
              <a:t>Lineare Aggregation erlaubt Kompensation zwischen Dimensionen.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91072" y="1627632"/>
            <a:ext cx="489204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2D47"/>
                </a:solidFill>
                <a:latin typeface="Aptos Display"/>
              </a:rPr>
              <a:t>TECHNISCH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91072" y="2029968"/>
            <a:ext cx="4892040" cy="41148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91072" y="2331720"/>
            <a:ext cx="20116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FF00"/>
                </a:solidFill>
                <a:latin typeface="Aptos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331720"/>
            <a:ext cx="4553712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002D47"/>
                </a:solidFill>
                <a:latin typeface="Aptos"/>
              </a:rPr>
              <a:t>Modellabhängigkeit; reproduzierbar nur mit Angabe von Modell und Prompt.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3145536"/>
            <a:ext cx="20116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FF00"/>
                </a:solidFill>
                <a:latin typeface="Aptos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145536"/>
            <a:ext cx="4553712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50" b="0" dirty="0" err="1">
                <a:solidFill>
                  <a:srgbClr val="002D47"/>
                </a:solidFill>
                <a:latin typeface="Aptos"/>
              </a:rPr>
              <a:t>Laufende</a:t>
            </a:r>
            <a:r>
              <a:rPr sz="1650" b="0" dirty="0">
                <a:solidFill>
                  <a:srgbClr val="002D47"/>
                </a:solidFill>
                <a:latin typeface="Aptos"/>
              </a:rPr>
              <a:t> Kosten: ca. 1,79 USD je 50 </a:t>
            </a:r>
            <a:r>
              <a:rPr sz="1650" b="0" dirty="0" err="1">
                <a:solidFill>
                  <a:srgbClr val="002D47"/>
                </a:solidFill>
                <a:latin typeface="Aptos"/>
              </a:rPr>
              <a:t>Datensätze</a:t>
            </a:r>
            <a:r>
              <a:rPr sz="1650" b="0" dirty="0">
                <a:solidFill>
                  <a:srgbClr val="002D47"/>
                </a:solidFill>
                <a:latin typeface="Aptos"/>
              </a:rPr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91072" y="3879274"/>
            <a:ext cx="20116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FF00"/>
                </a:solidFill>
                <a:latin typeface="Aptos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879274"/>
            <a:ext cx="4553712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002D47"/>
                </a:solidFill>
                <a:latin typeface="Aptos"/>
              </a:rPr>
              <a:t>Konformitätsprüfung abhängig von externem SHACL-Dienst.</a:t>
            </a:r>
          </a:p>
        </p:txBody>
      </p:sp>
      <p:sp>
        <p:nvSpPr>
          <p:cNvPr id="23" name="Datumsplatzhalter 3">
            <a:extLst>
              <a:ext uri="{FF2B5EF4-FFF2-40B4-BE49-F238E27FC236}">
                <a16:creationId xmlns:a16="http://schemas.microsoft.com/office/drawing/2014/main" id="{E342F399-BB0E-14F8-4EA4-417A6ABA9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14. September 2026</a:t>
            </a:r>
          </a:p>
        </p:txBody>
      </p:sp>
      <p:sp>
        <p:nvSpPr>
          <p:cNvPr id="24" name="Fußzeilenplatzhalter 4">
            <a:extLst>
              <a:ext uri="{FF2B5EF4-FFF2-40B4-BE49-F238E27FC236}">
                <a16:creationId xmlns:a16="http://schemas.microsoft.com/office/drawing/2014/main" id="{261C2C29-9A68-ADDC-AC07-C28CDE9EC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 E I T E N B A U</a:t>
            </a:r>
            <a:endParaRPr lang="de-DE"/>
          </a:p>
        </p:txBody>
      </p:sp>
      <p:sp>
        <p:nvSpPr>
          <p:cNvPr id="25" name="Foliennummernplatzhalter 5">
            <a:extLst>
              <a:ext uri="{FF2B5EF4-FFF2-40B4-BE49-F238E27FC236}">
                <a16:creationId xmlns:a16="http://schemas.microsoft.com/office/drawing/2014/main" id="{5BB6EE48-E9AC-A61E-4970-A74A57378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Drei Befunde über diese Arbeit hinaus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188720"/>
            <a:ext cx="1046988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2D47"/>
                </a:solidFill>
                <a:latin typeface="Aptos Display"/>
              </a:rPr>
              <a:t>GENERALISIERBARE MESSPRINZIPIEN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645920"/>
            <a:ext cx="548640" cy="4937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1">
                <a:solidFill>
                  <a:srgbClr val="00FF00"/>
                </a:solidFill>
                <a:latin typeface="Aptos Display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9344" y="1609344"/>
            <a:ext cx="9491472" cy="10515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002D47"/>
                </a:solidFill>
                <a:latin typeface="Aptos"/>
              </a:rPr>
              <a:t>Modellauswahl braucht Reproduzierbarkeitsprüfung
</a:t>
            </a:r>
            <a:r>
              <a:rPr sz="1650" b="0">
                <a:solidFill>
                  <a:srgbClr val="002D47"/>
                </a:solidFill>
                <a:latin typeface="Aptos"/>
              </a:rPr>
              <a:t>Sie liefert die Auflösungsgrenze für interpretierbare Unterschiede.</a:t>
            </a:r>
          </a:p>
        </p:txBody>
      </p:sp>
      <p:sp>
        <p:nvSpPr>
          <p:cNvPr id="9" name="Rectangle 8"/>
          <p:cNvSpPr/>
          <p:nvPr/>
        </p:nvSpPr>
        <p:spPr>
          <a:xfrm>
            <a:off x="1609344" y="2724912"/>
            <a:ext cx="9473184" cy="10972"/>
          </a:xfrm>
          <a:prstGeom prst="rect">
            <a:avLst/>
          </a:prstGeom>
          <a:solidFill>
            <a:srgbClr val="708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3035808"/>
            <a:ext cx="548640" cy="4937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1">
                <a:solidFill>
                  <a:srgbClr val="00FF00"/>
                </a:solidFill>
                <a:latin typeface="Aptos Display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9344" y="2999232"/>
            <a:ext cx="9491472" cy="10515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002D47"/>
                </a:solidFill>
                <a:latin typeface="Aptos"/>
              </a:rPr>
              <a:t>Messunsicherheit muss kleiner als der Informationsbeitrag bleiben
</a:t>
            </a:r>
            <a:r>
              <a:rPr sz="1650" b="0">
                <a:solidFill>
                  <a:srgbClr val="002D47"/>
                </a:solidFill>
                <a:latin typeface="Aptos"/>
              </a:rPr>
              <a:t>Andernfalls verschlechtert der Indikator das Gesamturteil.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9344" y="4114800"/>
            <a:ext cx="9473184" cy="10972"/>
          </a:xfrm>
          <a:prstGeom prst="rect">
            <a:avLst/>
          </a:prstGeom>
          <a:solidFill>
            <a:srgbClr val="708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8" y="4421124"/>
            <a:ext cx="548640" cy="4937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1" dirty="0">
                <a:solidFill>
                  <a:srgbClr val="00FF00"/>
                </a:solidFill>
                <a:latin typeface="Aptos Display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9344" y="4389120"/>
            <a:ext cx="9491472" cy="10515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002D47"/>
                </a:solidFill>
                <a:latin typeface="Aptos"/>
              </a:rPr>
              <a:t>Gesamtscore-Vergleich allein ist nicht aussagekräftig
</a:t>
            </a:r>
            <a:r>
              <a:rPr sz="1650" b="0">
                <a:solidFill>
                  <a:srgbClr val="002D47"/>
                </a:solidFill>
                <a:latin typeface="Aptos"/>
              </a:rPr>
              <a:t>Hier: ρ = 0,829 Korrelation trotz 15,8 % nachweisbarer Überschätzung auf Indikatorebene.</a:t>
            </a:r>
          </a:p>
        </p:txBody>
      </p:sp>
      <p:sp>
        <p:nvSpPr>
          <p:cNvPr id="15" name="Datumsplatzhalter 3">
            <a:extLst>
              <a:ext uri="{FF2B5EF4-FFF2-40B4-BE49-F238E27FC236}">
                <a16:creationId xmlns:a16="http://schemas.microsoft.com/office/drawing/2014/main" id="{E342F399-BB0E-14F8-4EA4-417A6ABA9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14. September 2026</a:t>
            </a:r>
          </a:p>
        </p:txBody>
      </p: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261C2C29-9A68-ADDC-AC07-C28CDE9EC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 E I T E N B A U</a:t>
            </a:r>
            <a:endParaRPr lang="de-DE"/>
          </a:p>
        </p:txBody>
      </p:sp>
      <p:sp>
        <p:nvSpPr>
          <p:cNvPr id="17" name="Foliennummernplatzhalter 5">
            <a:extLst>
              <a:ext uri="{FF2B5EF4-FFF2-40B4-BE49-F238E27FC236}">
                <a16:creationId xmlns:a16="http://schemas.microsoft.com/office/drawing/2014/main" id="{5BB6EE48-E9AC-A61E-4970-A74A57378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Beitrag, Ausblick, Praxis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645920"/>
            <a:ext cx="320040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 dirty="0">
                <a:solidFill>
                  <a:srgbClr val="002D47"/>
                </a:solidFill>
                <a:latin typeface="Aptos Display"/>
              </a:rPr>
              <a:t>BEITRAG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2057400"/>
            <a:ext cx="3200400" cy="41148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" y="2377440"/>
            <a:ext cx="20116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 dirty="0">
                <a:solidFill>
                  <a:srgbClr val="00FF00"/>
                </a:solidFill>
                <a:latin typeface="Apto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2377440"/>
            <a:ext cx="288036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30" b="0" dirty="0">
                <a:solidFill>
                  <a:srgbClr val="002D47"/>
                </a:solidFill>
                <a:latin typeface="Aptos"/>
              </a:rPr>
              <a:t>Rückführbare Indikatormenge aus Literatur und Empirie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3182112"/>
            <a:ext cx="20116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 dirty="0">
                <a:solidFill>
                  <a:srgbClr val="00FF00"/>
                </a:solidFill>
                <a:latin typeface="Apto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" y="3187377"/>
            <a:ext cx="2880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30" b="0" dirty="0">
                <a:solidFill>
                  <a:srgbClr val="002D47"/>
                </a:solidFill>
                <a:latin typeface="Aptos"/>
              </a:rPr>
              <a:t>Vollständig operationalisiert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3801807"/>
            <a:ext cx="20116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 dirty="0">
                <a:solidFill>
                  <a:srgbClr val="00FF00"/>
                </a:solidFill>
                <a:latin typeface="Apto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" y="3822192"/>
            <a:ext cx="288036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30" b="0" dirty="0">
                <a:solidFill>
                  <a:srgbClr val="002D47"/>
                </a:solidFill>
                <a:latin typeface="Aptos"/>
              </a:rPr>
              <a:t>Gegen </a:t>
            </a:r>
            <a:r>
              <a:rPr sz="1530" b="0" dirty="0" err="1">
                <a:solidFill>
                  <a:srgbClr val="002D47"/>
                </a:solidFill>
                <a:latin typeface="Aptos"/>
              </a:rPr>
              <a:t>menschliches</a:t>
            </a:r>
            <a:r>
              <a:rPr sz="1530" b="0" dirty="0">
                <a:solidFill>
                  <a:srgbClr val="002D47"/>
                </a:solidFill>
                <a:latin typeface="Aptos"/>
              </a:rPr>
              <a:t> </a:t>
            </a:r>
            <a:r>
              <a:rPr sz="1530" b="0" dirty="0" err="1">
                <a:solidFill>
                  <a:srgbClr val="002D47"/>
                </a:solidFill>
                <a:latin typeface="Aptos"/>
              </a:rPr>
              <a:t>Urteil</a:t>
            </a:r>
            <a:r>
              <a:rPr sz="1530" b="0" dirty="0">
                <a:solidFill>
                  <a:srgbClr val="002D47"/>
                </a:solidFill>
                <a:latin typeface="Aptos"/>
              </a:rPr>
              <a:t> </a:t>
            </a:r>
            <a:r>
              <a:rPr sz="1530" b="0" dirty="0" err="1">
                <a:solidFill>
                  <a:srgbClr val="002D47"/>
                </a:solidFill>
                <a:latin typeface="Aptos"/>
              </a:rPr>
              <a:t>geprüft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87368" y="1627632"/>
            <a:ext cx="12801" cy="4206240"/>
          </a:xfrm>
          <a:prstGeom prst="rect">
            <a:avLst/>
          </a:prstGeom>
          <a:solidFill>
            <a:srgbClr val="708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34256" y="1645920"/>
            <a:ext cx="320040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 dirty="0">
                <a:solidFill>
                  <a:srgbClr val="002D47"/>
                </a:solidFill>
                <a:latin typeface="Aptos Display"/>
              </a:rPr>
              <a:t>AUSBLICK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34256" y="2057400"/>
            <a:ext cx="3200400" cy="41148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34256" y="2377440"/>
            <a:ext cx="20116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 dirty="0">
                <a:solidFill>
                  <a:srgbClr val="00FF00"/>
                </a:solidFill>
                <a:latin typeface="Apto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26864" y="2377440"/>
            <a:ext cx="288036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30" b="0" dirty="0" err="1">
                <a:solidFill>
                  <a:srgbClr val="002D47"/>
                </a:solidFill>
                <a:latin typeface="Aptos"/>
              </a:rPr>
              <a:t>Mehrfachbewertung</a:t>
            </a:r>
            <a:r>
              <a:rPr sz="1530" b="0" dirty="0">
                <a:solidFill>
                  <a:srgbClr val="002D47"/>
                </a:solidFill>
                <a:latin typeface="Aptos"/>
              </a:rPr>
              <a:t> </a:t>
            </a:r>
            <a:r>
              <a:rPr sz="1530" b="0" dirty="0" err="1">
                <a:solidFill>
                  <a:srgbClr val="002D47"/>
                </a:solidFill>
                <a:latin typeface="Aptos"/>
              </a:rPr>
              <a:t>durch</a:t>
            </a:r>
            <a:r>
              <a:rPr sz="1530" b="0" dirty="0">
                <a:solidFill>
                  <a:srgbClr val="002D47"/>
                </a:solidFill>
                <a:latin typeface="Aptos"/>
              </a:rPr>
              <a:t> </a:t>
            </a:r>
            <a:r>
              <a:rPr sz="1530" b="0" dirty="0" err="1">
                <a:solidFill>
                  <a:srgbClr val="002D47"/>
                </a:solidFill>
                <a:latin typeface="Aptos"/>
              </a:rPr>
              <a:t>unabhängige</a:t>
            </a:r>
            <a:r>
              <a:rPr sz="1530" b="0" dirty="0">
                <a:solidFill>
                  <a:srgbClr val="002D47"/>
                </a:solidFill>
                <a:latin typeface="Aptos"/>
              </a:rPr>
              <a:t> </a:t>
            </a:r>
            <a:r>
              <a:rPr sz="1530" b="0" dirty="0" err="1">
                <a:solidFill>
                  <a:srgbClr val="002D47"/>
                </a:solidFill>
                <a:latin typeface="Aptos"/>
              </a:rPr>
              <a:t>Personen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34256" y="3154680"/>
            <a:ext cx="20116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 dirty="0">
                <a:solidFill>
                  <a:srgbClr val="00FF00"/>
                </a:solidFill>
                <a:latin typeface="Aptos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26864" y="3191930"/>
            <a:ext cx="288036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30" b="0" dirty="0">
                <a:solidFill>
                  <a:srgbClr val="002D47"/>
                </a:solidFill>
                <a:latin typeface="Aptos"/>
              </a:rPr>
              <a:t>Sensitivitätsanalyse der Gewichte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34256" y="3798759"/>
            <a:ext cx="20116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 dirty="0">
                <a:solidFill>
                  <a:srgbClr val="00FF00"/>
                </a:solidFill>
                <a:latin typeface="Aptos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08575" y="3798759"/>
            <a:ext cx="288036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30" b="0" dirty="0">
                <a:solidFill>
                  <a:srgbClr val="002D47"/>
                </a:solidFill>
                <a:latin typeface="Aptos"/>
              </a:rPr>
              <a:t>„Nicht anwendbar“ für relationale Kriterien bei schwachem Inhalt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34256" y="4535424"/>
            <a:ext cx="20116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 dirty="0">
                <a:solidFill>
                  <a:srgbClr val="00FF00"/>
                </a:solidFill>
                <a:latin typeface="Aptos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08575" y="4562856"/>
            <a:ext cx="288036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30" b="0" dirty="0">
                <a:solidFill>
                  <a:srgbClr val="002D47"/>
                </a:solidFill>
                <a:latin typeface="Aptos"/>
              </a:rPr>
              <a:t>Vergleich mit MQA Metrics v2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80375" y="1627632"/>
            <a:ext cx="12801" cy="4206240"/>
          </a:xfrm>
          <a:prstGeom prst="rect">
            <a:avLst/>
          </a:prstGeom>
          <a:solidFill>
            <a:srgbClr val="708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827264" y="1645920"/>
            <a:ext cx="320040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 dirty="0">
                <a:solidFill>
                  <a:srgbClr val="002D47"/>
                </a:solidFill>
                <a:latin typeface="Aptos Display"/>
              </a:rPr>
              <a:t>PRAXIS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27264" y="2057400"/>
            <a:ext cx="3200400" cy="41148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827264" y="2377440"/>
            <a:ext cx="20116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 dirty="0">
                <a:solidFill>
                  <a:srgbClr val="00FF00"/>
                </a:solidFill>
                <a:latin typeface="Aptos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19872" y="2377440"/>
            <a:ext cx="288036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30" b="0" dirty="0" err="1">
                <a:solidFill>
                  <a:srgbClr val="002D47"/>
                </a:solidFill>
                <a:latin typeface="Aptos"/>
              </a:rPr>
              <a:t>Formale</a:t>
            </a:r>
            <a:r>
              <a:rPr sz="1530" b="0" dirty="0">
                <a:solidFill>
                  <a:srgbClr val="002D47"/>
                </a:solidFill>
                <a:latin typeface="Aptos"/>
              </a:rPr>
              <a:t> </a:t>
            </a:r>
            <a:r>
              <a:rPr sz="1530" b="0" dirty="0" err="1">
                <a:solidFill>
                  <a:srgbClr val="002D47"/>
                </a:solidFill>
                <a:latin typeface="Aptos"/>
              </a:rPr>
              <a:t>Validierung</a:t>
            </a:r>
            <a:r>
              <a:rPr sz="1530" b="0" dirty="0">
                <a:solidFill>
                  <a:srgbClr val="002D47"/>
                </a:solidFill>
                <a:latin typeface="Aptos"/>
              </a:rPr>
              <a:t> </a:t>
            </a:r>
            <a:r>
              <a:rPr sz="1530" b="0" dirty="0" err="1">
                <a:solidFill>
                  <a:srgbClr val="002D47"/>
                </a:solidFill>
                <a:latin typeface="Aptos"/>
              </a:rPr>
              <a:t>als</a:t>
            </a:r>
            <a:r>
              <a:rPr sz="1530" b="0" dirty="0">
                <a:solidFill>
                  <a:srgbClr val="002D47"/>
                </a:solidFill>
                <a:latin typeface="Aptos"/>
              </a:rPr>
              <a:t> </a:t>
            </a:r>
            <a:r>
              <a:rPr sz="1530" b="0" dirty="0" err="1">
                <a:solidFill>
                  <a:srgbClr val="002D47"/>
                </a:solidFill>
                <a:latin typeface="Aptos"/>
              </a:rPr>
              <a:t>Vorstufe</a:t>
            </a:r>
            <a:r>
              <a:rPr sz="1530" b="0" dirty="0">
                <a:solidFill>
                  <a:srgbClr val="002D47"/>
                </a:solidFill>
                <a:latin typeface="Aptos"/>
              </a:rPr>
              <a:t> </a:t>
            </a:r>
            <a:r>
              <a:rPr sz="1530" b="0" dirty="0" err="1">
                <a:solidFill>
                  <a:srgbClr val="002D47"/>
                </a:solidFill>
                <a:latin typeface="Aptos"/>
              </a:rPr>
              <a:t>statt</a:t>
            </a:r>
            <a:r>
              <a:rPr sz="1530" b="0" dirty="0">
                <a:solidFill>
                  <a:srgbClr val="002D47"/>
                </a:solidFill>
                <a:latin typeface="Aptos"/>
              </a:rPr>
              <a:t> </a:t>
            </a:r>
            <a:r>
              <a:rPr sz="1530" b="0" dirty="0" err="1">
                <a:solidFill>
                  <a:srgbClr val="002D47"/>
                </a:solidFill>
                <a:latin typeface="Aptos"/>
              </a:rPr>
              <a:t>gleichrangiger</a:t>
            </a:r>
            <a:r>
              <a:rPr sz="1530" b="0" dirty="0">
                <a:solidFill>
                  <a:srgbClr val="002D47"/>
                </a:solidFill>
                <a:latin typeface="Aptos"/>
              </a:rPr>
              <a:t> </a:t>
            </a:r>
            <a:r>
              <a:rPr sz="1530" b="0" dirty="0" err="1">
                <a:solidFill>
                  <a:srgbClr val="002D47"/>
                </a:solidFill>
                <a:latin typeface="Aptos"/>
              </a:rPr>
              <a:t>Indikator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27264" y="3181835"/>
            <a:ext cx="20116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 dirty="0">
                <a:solidFill>
                  <a:srgbClr val="00FF00"/>
                </a:solidFill>
                <a:latin typeface="Aptos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19872" y="3181835"/>
            <a:ext cx="288036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30" b="0" dirty="0">
                <a:solidFill>
                  <a:srgbClr val="002D47"/>
                </a:solidFill>
                <a:latin typeface="Aptos"/>
              </a:rPr>
              <a:t>Wirkung erst durch Befund mit Handlungsanweisung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27264" y="3805409"/>
            <a:ext cx="20116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 dirty="0">
                <a:solidFill>
                  <a:srgbClr val="00FF00"/>
                </a:solidFill>
                <a:latin typeface="Aptos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19872" y="3807349"/>
            <a:ext cx="288036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30" b="0" dirty="0">
                <a:solidFill>
                  <a:srgbClr val="002D47"/>
                </a:solidFill>
                <a:latin typeface="Aptos"/>
              </a:rPr>
              <a:t>LLM-</a:t>
            </a:r>
            <a:r>
              <a:rPr sz="1530" b="0" dirty="0" err="1">
                <a:solidFill>
                  <a:srgbClr val="002D47"/>
                </a:solidFill>
                <a:latin typeface="Aptos"/>
              </a:rPr>
              <a:t>Prüfungen</a:t>
            </a:r>
            <a:r>
              <a:rPr sz="1530" b="0" dirty="0">
                <a:solidFill>
                  <a:srgbClr val="002D47"/>
                </a:solidFill>
                <a:latin typeface="Aptos"/>
              </a:rPr>
              <a:t> </a:t>
            </a:r>
            <a:r>
              <a:rPr sz="1530" b="0" dirty="0" err="1">
                <a:solidFill>
                  <a:srgbClr val="002D47"/>
                </a:solidFill>
                <a:latin typeface="Aptos"/>
              </a:rPr>
              <a:t>nur</a:t>
            </a:r>
            <a:r>
              <a:rPr sz="1530" b="0" dirty="0">
                <a:solidFill>
                  <a:srgbClr val="002D47"/>
                </a:solidFill>
                <a:latin typeface="Aptos"/>
              </a:rPr>
              <a:t> </a:t>
            </a:r>
            <a:r>
              <a:rPr sz="1530" b="0" dirty="0" err="1">
                <a:solidFill>
                  <a:srgbClr val="002D47"/>
                </a:solidFill>
                <a:latin typeface="Aptos"/>
              </a:rPr>
              <a:t>ohne</a:t>
            </a:r>
            <a:r>
              <a:rPr sz="1530" b="0" dirty="0">
                <a:solidFill>
                  <a:srgbClr val="002D47"/>
                </a:solidFill>
                <a:latin typeface="Aptos"/>
              </a:rPr>
              <a:t> </a:t>
            </a:r>
            <a:r>
              <a:rPr sz="1530" b="0" dirty="0" err="1">
                <a:solidFill>
                  <a:srgbClr val="002D47"/>
                </a:solidFill>
                <a:latin typeface="Aptos"/>
              </a:rPr>
              <a:t>deterministischen</a:t>
            </a:r>
            <a:r>
              <a:rPr sz="1530" b="0" dirty="0">
                <a:solidFill>
                  <a:srgbClr val="002D47"/>
                </a:solidFill>
                <a:latin typeface="Aptos"/>
              </a:rPr>
              <a:t> </a:t>
            </a:r>
            <a:r>
              <a:rPr sz="1530" b="0" dirty="0" err="1">
                <a:solidFill>
                  <a:srgbClr val="002D47"/>
                </a:solidFill>
                <a:latin typeface="Aptos"/>
              </a:rPr>
              <a:t>Sachverhalt</a:t>
            </a:r>
          </a:p>
        </p:txBody>
      </p:sp>
      <p:sp>
        <p:nvSpPr>
          <p:cNvPr id="35" name="Datumsplatzhalter 3">
            <a:extLst>
              <a:ext uri="{FF2B5EF4-FFF2-40B4-BE49-F238E27FC236}">
                <a16:creationId xmlns:a16="http://schemas.microsoft.com/office/drawing/2014/main" id="{E342F399-BB0E-14F8-4EA4-417A6ABA9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14. September 2026</a:t>
            </a:r>
          </a:p>
        </p:txBody>
      </p:sp>
      <p:sp>
        <p:nvSpPr>
          <p:cNvPr id="36" name="Fußzeilenplatzhalter 4">
            <a:extLst>
              <a:ext uri="{FF2B5EF4-FFF2-40B4-BE49-F238E27FC236}">
                <a16:creationId xmlns:a16="http://schemas.microsoft.com/office/drawing/2014/main" id="{261C2C29-9A68-ADDC-AC07-C28CDE9EC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 E I T E N B A U</a:t>
            </a:r>
            <a:endParaRPr lang="de-DE"/>
          </a:p>
        </p:txBody>
      </p:sp>
      <p:sp>
        <p:nvSpPr>
          <p:cNvPr id="37" name="Foliennummernplatzhalter 5">
            <a:extLst>
              <a:ext uri="{FF2B5EF4-FFF2-40B4-BE49-F238E27FC236}">
                <a16:creationId xmlns:a16="http://schemas.microsoft.com/office/drawing/2014/main" id="{5BB6EE48-E9AC-A61E-4970-A74A57378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 err="1"/>
              <a:t>Vielen</a:t>
            </a:r>
            <a:r>
              <a:rPr dirty="0"/>
              <a:t> Dank für </a:t>
            </a:r>
            <a:r>
              <a:rPr dirty="0" err="1"/>
              <a:t>Ihre</a:t>
            </a:r>
            <a:r>
              <a:rPr dirty="0"/>
              <a:t> </a:t>
            </a:r>
            <a:r>
              <a:rPr dirty="0" err="1"/>
              <a:t>Aufmerksamkeit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 err="1"/>
              <a:t>Fragen</a:t>
            </a:r>
            <a:r>
              <a:rPr dirty="0"/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462272"/>
            <a:ext cx="98298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dirty="0">
                <a:solidFill>
                  <a:srgbClr val="00FF00"/>
                </a:solidFill>
                <a:latin typeface="Aptos Display"/>
              </a:rPr>
              <a:t>ZENTRALE FORSCHUNGSFRAGE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" y="4818888"/>
            <a:ext cx="9802368" cy="9326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550" b="0" dirty="0">
                <a:solidFill>
                  <a:srgbClr val="FFFFFF"/>
                </a:solidFill>
                <a:latin typeface="Aptos"/>
              </a:rPr>
              <a:t>„Wie </a:t>
            </a:r>
            <a:r>
              <a:rPr sz="1550" b="0" dirty="0" err="1">
                <a:solidFill>
                  <a:srgbClr val="FFFFFF"/>
                </a:solidFill>
                <a:latin typeface="Aptos"/>
              </a:rPr>
              <a:t>kann</a:t>
            </a:r>
            <a:r>
              <a:rPr sz="1550" b="0" dirty="0">
                <a:solidFill>
                  <a:srgbClr val="FFFFFF"/>
                </a:solidFill>
                <a:latin typeface="Aptos"/>
              </a:rPr>
              <a:t> </a:t>
            </a:r>
            <a:r>
              <a:rPr sz="1550" b="0" dirty="0" err="1">
                <a:solidFill>
                  <a:srgbClr val="FFFFFF"/>
                </a:solidFill>
                <a:latin typeface="Aptos"/>
              </a:rPr>
              <a:t>ein</a:t>
            </a:r>
            <a:r>
              <a:rPr sz="1550" b="0" dirty="0">
                <a:solidFill>
                  <a:srgbClr val="FFFFFF"/>
                </a:solidFill>
                <a:latin typeface="Aptos"/>
              </a:rPr>
              <a:t> </a:t>
            </a:r>
            <a:r>
              <a:rPr sz="1550" b="0" dirty="0" err="1">
                <a:solidFill>
                  <a:srgbClr val="FFFFFF"/>
                </a:solidFill>
                <a:latin typeface="Aptos"/>
              </a:rPr>
              <a:t>Bewertungsmodell</a:t>
            </a:r>
            <a:r>
              <a:rPr sz="1550" b="0" dirty="0">
                <a:solidFill>
                  <a:srgbClr val="FFFFFF"/>
                </a:solidFill>
                <a:latin typeface="Aptos"/>
              </a:rPr>
              <a:t> für die </a:t>
            </a:r>
            <a:r>
              <a:rPr sz="1550" b="0" dirty="0" err="1">
                <a:solidFill>
                  <a:srgbClr val="FFFFFF"/>
                </a:solidFill>
                <a:latin typeface="Aptos"/>
              </a:rPr>
              <a:t>Qualität</a:t>
            </a:r>
            <a:r>
              <a:rPr sz="1550" b="0" dirty="0">
                <a:solidFill>
                  <a:srgbClr val="FFFFFF"/>
                </a:solidFill>
                <a:latin typeface="Aptos"/>
              </a:rPr>
              <a:t> von DCAT-AP.de-</a:t>
            </a:r>
            <a:r>
              <a:rPr sz="1550" b="0" dirty="0" err="1">
                <a:solidFill>
                  <a:srgbClr val="FFFFFF"/>
                </a:solidFill>
                <a:latin typeface="Aptos"/>
              </a:rPr>
              <a:t>Metadaten</a:t>
            </a:r>
            <a:r>
              <a:rPr sz="1550" b="0" dirty="0">
                <a:solidFill>
                  <a:srgbClr val="FFFFFF"/>
                </a:solidFill>
                <a:latin typeface="Aptos"/>
              </a:rPr>
              <a:t> </a:t>
            </a:r>
            <a:r>
              <a:rPr sz="1550" b="0" dirty="0" err="1">
                <a:solidFill>
                  <a:srgbClr val="FFFFFF"/>
                </a:solidFill>
                <a:latin typeface="Aptos"/>
              </a:rPr>
              <a:t>im</a:t>
            </a:r>
            <a:r>
              <a:rPr sz="1550" b="0" dirty="0">
                <a:solidFill>
                  <a:srgbClr val="FFFFFF"/>
                </a:solidFill>
                <a:latin typeface="Aptos"/>
              </a:rPr>
              <a:t> </a:t>
            </a:r>
            <a:r>
              <a:rPr sz="1550" b="0" dirty="0" err="1">
                <a:solidFill>
                  <a:srgbClr val="FFFFFF"/>
                </a:solidFill>
                <a:latin typeface="Aptos"/>
              </a:rPr>
              <a:t>GovData-Kontext</a:t>
            </a:r>
            <a:r>
              <a:rPr sz="1550" b="0" dirty="0">
                <a:solidFill>
                  <a:srgbClr val="FFFFFF"/>
                </a:solidFill>
                <a:latin typeface="Aptos"/>
              </a:rPr>
              <a:t> </a:t>
            </a:r>
            <a:r>
              <a:rPr sz="1550" b="0" dirty="0" err="1">
                <a:solidFill>
                  <a:srgbClr val="FFFFFF"/>
                </a:solidFill>
                <a:latin typeface="Aptos"/>
              </a:rPr>
              <a:t>entwickelt</a:t>
            </a:r>
            <a:r>
              <a:rPr sz="1550" b="0" dirty="0">
                <a:solidFill>
                  <a:srgbClr val="FFFFFF"/>
                </a:solidFill>
                <a:latin typeface="Aptos"/>
              </a:rPr>
              <a:t> </a:t>
            </a:r>
            <a:r>
              <a:rPr sz="1550" b="0" dirty="0" err="1">
                <a:solidFill>
                  <a:srgbClr val="FFFFFF"/>
                </a:solidFill>
                <a:latin typeface="Aptos"/>
              </a:rPr>
              <a:t>werden</a:t>
            </a:r>
            <a:r>
              <a:rPr sz="1550" b="0" dirty="0">
                <a:solidFill>
                  <a:srgbClr val="FFFFFF"/>
                </a:solidFill>
                <a:latin typeface="Aptos"/>
              </a:rPr>
              <a:t>, das </a:t>
            </a:r>
            <a:r>
              <a:rPr sz="1550" b="0" dirty="0" err="1">
                <a:solidFill>
                  <a:srgbClr val="FFFFFF"/>
                </a:solidFill>
                <a:latin typeface="Aptos"/>
              </a:rPr>
              <a:t>formale</a:t>
            </a:r>
            <a:r>
              <a:rPr sz="1550" b="0" dirty="0">
                <a:solidFill>
                  <a:srgbClr val="FFFFFF"/>
                </a:solidFill>
                <a:latin typeface="Aptos"/>
              </a:rPr>
              <a:t> </a:t>
            </a:r>
            <a:r>
              <a:rPr sz="1550" b="0" dirty="0" err="1">
                <a:solidFill>
                  <a:srgbClr val="FFFFFF"/>
                </a:solidFill>
                <a:latin typeface="Aptos"/>
              </a:rPr>
              <a:t>Prüfverfahren</a:t>
            </a:r>
            <a:r>
              <a:rPr sz="1550" b="0" dirty="0">
                <a:solidFill>
                  <a:srgbClr val="FFFFFF"/>
                </a:solidFill>
                <a:latin typeface="Aptos"/>
              </a:rPr>
              <a:t> </a:t>
            </a:r>
            <a:r>
              <a:rPr sz="1550" b="0" dirty="0" err="1">
                <a:solidFill>
                  <a:srgbClr val="FFFFFF"/>
                </a:solidFill>
                <a:latin typeface="Aptos"/>
              </a:rPr>
              <a:t>mit</a:t>
            </a:r>
            <a:r>
              <a:rPr sz="1550" b="0" dirty="0">
                <a:solidFill>
                  <a:srgbClr val="FFFFFF"/>
                </a:solidFill>
                <a:latin typeface="Aptos"/>
              </a:rPr>
              <a:t> </a:t>
            </a:r>
            <a:r>
              <a:rPr sz="1550" b="0" dirty="0" err="1">
                <a:solidFill>
                  <a:srgbClr val="FFFFFF"/>
                </a:solidFill>
                <a:latin typeface="Aptos"/>
              </a:rPr>
              <a:t>ergänzenden</a:t>
            </a:r>
            <a:r>
              <a:rPr sz="1550" b="0" dirty="0">
                <a:solidFill>
                  <a:srgbClr val="FFFFFF"/>
                </a:solidFill>
                <a:latin typeface="Aptos"/>
              </a:rPr>
              <a:t> </a:t>
            </a:r>
            <a:r>
              <a:rPr sz="1550" b="0" dirty="0" err="1">
                <a:solidFill>
                  <a:srgbClr val="FFFFFF"/>
                </a:solidFill>
                <a:latin typeface="Aptos"/>
              </a:rPr>
              <a:t>kontext</a:t>
            </a:r>
            <a:r>
              <a:rPr sz="1550" b="0" dirty="0">
                <a:solidFill>
                  <a:srgbClr val="FFFFFF"/>
                </a:solidFill>
                <a:latin typeface="Aptos"/>
              </a:rPr>
              <a:t>- und </a:t>
            </a:r>
            <a:r>
              <a:rPr sz="1550" b="0" dirty="0" err="1">
                <a:solidFill>
                  <a:srgbClr val="FFFFFF"/>
                </a:solidFill>
                <a:latin typeface="Aptos"/>
              </a:rPr>
              <a:t>semantikbezogenen</a:t>
            </a:r>
            <a:r>
              <a:rPr sz="1550" b="0" dirty="0">
                <a:solidFill>
                  <a:srgbClr val="FFFFFF"/>
                </a:solidFill>
                <a:latin typeface="Aptos"/>
              </a:rPr>
              <a:t> </a:t>
            </a:r>
            <a:r>
              <a:rPr sz="1550" b="0" dirty="0" err="1">
                <a:solidFill>
                  <a:srgbClr val="FFFFFF"/>
                </a:solidFill>
                <a:latin typeface="Aptos"/>
              </a:rPr>
              <a:t>Qualitätsindikatoren</a:t>
            </a:r>
            <a:r>
              <a:rPr sz="1550" b="0" dirty="0">
                <a:solidFill>
                  <a:srgbClr val="FFFFFF"/>
                </a:solidFill>
                <a:latin typeface="Aptos"/>
              </a:rPr>
              <a:t> </a:t>
            </a:r>
            <a:r>
              <a:rPr sz="1550" b="0" dirty="0" err="1">
                <a:solidFill>
                  <a:srgbClr val="FFFFFF"/>
                </a:solidFill>
                <a:latin typeface="Aptos"/>
              </a:rPr>
              <a:t>verbindet</a:t>
            </a:r>
            <a:r>
              <a:rPr sz="1550" b="0" dirty="0">
                <a:solidFill>
                  <a:srgbClr val="FFFFFF"/>
                </a:solidFill>
                <a:latin typeface="Aptos"/>
              </a:rPr>
              <a:t>?“</a:t>
            </a:r>
          </a:p>
        </p:txBody>
      </p:sp>
      <p:sp>
        <p:nvSpPr>
          <p:cNvPr id="6" name="Fußzeilenplatzhalter 8">
            <a:extLst>
              <a:ext uri="{FF2B5EF4-FFF2-40B4-BE49-F238E27FC236}">
                <a16:creationId xmlns:a16="http://schemas.microsoft.com/office/drawing/2014/main" id="{43894284-779A-D0E5-10AD-9FE111A61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 E I T E N B A U</a:t>
            </a:r>
          </a:p>
        </p:txBody>
      </p:sp>
      <p:sp>
        <p:nvSpPr>
          <p:cNvPr id="7" name="Foliennummernplatzhalter 9">
            <a:extLst>
              <a:ext uri="{FF2B5EF4-FFF2-40B4-BE49-F238E27FC236}">
                <a16:creationId xmlns:a16="http://schemas.microsoft.com/office/drawing/2014/main" id="{2AB7F94E-8AEB-B845-C72D-D5266504E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25</a:t>
            </a:r>
          </a:p>
        </p:txBody>
      </p:sp>
      <p:sp>
        <p:nvSpPr>
          <p:cNvPr id="8" name="Datumsplatzhalter 3">
            <a:extLst>
              <a:ext uri="{FF2B5EF4-FFF2-40B4-BE49-F238E27FC236}">
                <a16:creationId xmlns:a16="http://schemas.microsoft.com/office/drawing/2014/main" id="{E342F399-BB0E-14F8-4EA4-417A6ABA9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14. September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Benutzerdefiniert 4">
      <a:dk1>
        <a:srgbClr val="0A0A0A"/>
      </a:dk1>
      <a:lt1>
        <a:srgbClr val="FFFFFF"/>
      </a:lt1>
      <a:dk2>
        <a:srgbClr val="002D47"/>
      </a:dk2>
      <a:lt2>
        <a:srgbClr val="F2F5F6"/>
      </a:lt2>
      <a:accent1>
        <a:srgbClr val="002D47"/>
      </a:accent1>
      <a:accent2>
        <a:srgbClr val="006CB6"/>
      </a:accent2>
      <a:accent3>
        <a:srgbClr val="00FF00"/>
      </a:accent3>
      <a:accent4>
        <a:srgbClr val="19B4EB"/>
      </a:accent4>
      <a:accent5>
        <a:srgbClr val="E40014"/>
      </a:accent5>
      <a:accent6>
        <a:srgbClr val="70818C"/>
      </a:accent6>
      <a:hlink>
        <a:srgbClr val="006CB6"/>
      </a:hlink>
      <a:folHlink>
        <a:srgbClr val="00FF0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1780</Words>
  <Application>Microsoft Office PowerPoint</Application>
  <PresentationFormat>Breitbild</PresentationFormat>
  <Paragraphs>393</Paragraphs>
  <Slides>25</Slides>
  <Notes>0</Notes>
  <HiddenSlides>1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25</vt:i4>
      </vt:variant>
    </vt:vector>
  </HeadingPairs>
  <TitlesOfParts>
    <vt:vector size="26" baseType="lpstr">
      <vt:lpstr>Office</vt:lpstr>
      <vt:lpstr>Qualitätsmessung von Metadaten nach DCAT-AP.de Standard</vt:lpstr>
      <vt:lpstr>Ausgangslage</vt:lpstr>
      <vt:lpstr>Forschungsfragen</vt:lpstr>
      <vt:lpstr>Bewertungslücke bestehender Ansätze</vt:lpstr>
      <vt:lpstr>Experteninterviews: zentrale Anforderungen</vt:lpstr>
      <vt:lpstr>Verdichtung der Kandidatendimensionen zu finalen Dimensionen</vt:lpstr>
      <vt:lpstr>Indikatoren: formal, technisch, semantisch</vt:lpstr>
      <vt:lpstr>Vier Prinzipien des Messmodells</vt:lpstr>
      <vt:lpstr>Sprachmodellgestützte Bewertung der</vt:lpstr>
      <vt:lpstr>Verarbeitungspipeline</vt:lpstr>
      <vt:lpstr>Scoring &amp; Gewichtung</vt:lpstr>
      <vt:lpstr>Vom Prüfergebnis zum Befund</vt:lpstr>
      <vt:lpstr>Evaluationsdesign</vt:lpstr>
      <vt:lpstr>Hauptergebnisse im Überblick</vt:lpstr>
      <vt:lpstr>Konvergenz auf Klasse A, Überschätzung auf Klasse B</vt:lpstr>
      <vt:lpstr>Triangulation: wer liegt näher am menschlichen Urteil?</vt:lpstr>
      <vt:lpstr>Grenzfall: Aussagekraft auf den Extremfällen</vt:lpstr>
      <vt:lpstr>Ein Beispiel: Justizblatt-Datensatz</vt:lpstr>
      <vt:lpstr>Kuratiertes Extrembeispiel: „Justizblatt“</vt:lpstr>
      <vt:lpstr>Antworten auf die Teilfragen</vt:lpstr>
      <vt:lpstr>Konzeptionelle Grenze</vt:lpstr>
      <vt:lpstr>Methodische &amp; technische Grenzen</vt:lpstr>
      <vt:lpstr>Drei Befunde über diese Arbeit hinaus</vt:lpstr>
      <vt:lpstr>Beitrag, Ausblick, Praxis</vt:lpstr>
      <vt:lpstr>Vielen Dank für Ihre Aufmerksamkeit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Lars Bürger</dc:creator>
  <cp:lastModifiedBy>Lars Bürger</cp:lastModifiedBy>
  <cp:revision>247</cp:revision>
  <dcterms:created xsi:type="dcterms:W3CDTF">2026-09-11T09:59:01Z</dcterms:created>
  <dcterms:modified xsi:type="dcterms:W3CDTF">2026-09-18T10:03:31Z</dcterms:modified>
</cp:coreProperties>
</file>