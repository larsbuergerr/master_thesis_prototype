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47"/>
    <a:srgbClr val="F2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43" dt="2026-09-17T11:51:37.039"/>
    <p1510:client id="{06807850-2603-09DA-B2F6-98BCF0C0CDF5}" v="91" dt="2026-09-17T09:18:10.511"/>
    <p1510:client id="{D30067CA-A2CF-4FBD-A9BB-F6A99E10D24D}" v="355" dt="2026-09-16T13:40:03.782"/>
    <p1510:client id="{D322D37B-6CF4-8D15-ADE3-F71DE017B4A0}" v="172" dt="2026-09-17T11:49:20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053F1-A45E-43B6-9958-CFA222CA2442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00FBF-B6A2-438D-BF2F-9887B231C2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00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8B1CF1-BF60-8041-CFF0-1B715D1A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E2D915-E0FD-BA99-547A-786E26DD2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17124-5F5D-D106-03BE-C40D81B1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2F5F6"/>
                </a:solidFill>
              </a:defRPr>
            </a:lvl1pPr>
          </a:lstStyle>
          <a:p>
            <a:fld id="{60EECD7E-DE59-4057-BCF7-765169767775}" type="datetime4">
              <a:rPr lang="de-DE" smtClean="0"/>
              <a:t>17. September 2026</a:t>
            </a:fld>
            <a:endParaRPr lang="de-DE" dirty="0">
              <a:solidFill>
                <a:srgbClr val="F2F5F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37DF51-DD99-02C6-04EA-24DC12E0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2481BA-333C-2D79-DF1E-3674C3E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E09B90-955E-4D15-9590-89161BB2646F}" type="slidenum">
              <a:rPr lang="de-DE" smtClean="0"/>
              <a:pPr/>
              <a:t>‹#›</a:t>
            </a:fld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9BCDBC0-0399-2ED0-5487-2180CF543B72}"/>
              </a:ext>
            </a:extLst>
          </p:cNvPr>
          <p:cNvSpPr/>
          <p:nvPr userDrawn="1"/>
        </p:nvSpPr>
        <p:spPr>
          <a:xfrm>
            <a:off x="11619411" y="0"/>
            <a:ext cx="572589" cy="685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37595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5A962-B4D4-23AD-2C72-9CED6D16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2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0A274F-67D2-1873-B0D1-3B025A31C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4DE339-C251-D196-87EC-3878529F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BF7C6C-3DD5-48C5-8D68-F70B8097EE6D}" type="datetime4">
              <a:rPr lang="de-DE" smtClean="0"/>
              <a:pPr/>
              <a:t>17. September 2026</a:t>
            </a:fld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7A8190-7B04-8FC6-DCA4-24957D7C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225FF1-DCAA-21BF-246B-EAC9ADEB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9B90-955E-4D15-9590-89161BB2646F}" type="slidenum">
              <a:rPr lang="de-DE" smtClean="0"/>
              <a:pPr/>
              <a:t>‹#›</a:t>
            </a:fld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BDB61D-9536-4200-DE75-2A2D88C62A44}"/>
              </a:ext>
            </a:extLst>
          </p:cNvPr>
          <p:cNvSpPr/>
          <p:nvPr userDrawn="1"/>
        </p:nvSpPr>
        <p:spPr>
          <a:xfrm>
            <a:off x="0" y="423769"/>
            <a:ext cx="838200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04D79E-2AE6-25FF-4830-A0FD6BC6981F}"/>
              </a:ext>
            </a:extLst>
          </p:cNvPr>
          <p:cNvSpPr/>
          <p:nvPr userDrawn="1"/>
        </p:nvSpPr>
        <p:spPr>
          <a:xfrm>
            <a:off x="0" y="473869"/>
            <a:ext cx="838200" cy="3150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C726B9-2312-A548-1204-BD39B591096F}"/>
              </a:ext>
            </a:extLst>
          </p:cNvPr>
          <p:cNvSpPr/>
          <p:nvPr userDrawn="1"/>
        </p:nvSpPr>
        <p:spPr>
          <a:xfrm>
            <a:off x="12115800" y="0"/>
            <a:ext cx="76200" cy="6858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24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80B8F-E232-1382-6CB1-F60B01B4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447E77-D27D-4846-694C-873A7618C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40E20-5F66-F214-7191-B90A5A1F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7CC9D-1472-441A-A10A-A98D61DEF743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169AAA-801F-43C0-68D1-F365DFCD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8B651A-E8C3-B12C-92F6-5AAFF3C1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6246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1C8A8-9988-7331-2BCA-4F9D076B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3C4576-431F-0D6E-1B07-D65FA8C11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87627C-188A-21F2-0ADA-82C0C135D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0B6397-D143-6E42-C1C6-10C56983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4ADE6-13AC-4938-B638-AE7305C3F6E4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F957B4-5D8D-DE3A-0A13-CA52C34B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6595CC-FCC8-C1DD-48C3-031D1483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02172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6288B-A491-9354-479D-B3FBE396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6ECBD8-865E-7892-AA77-62C0929DE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2FC15-EA22-D869-9EEF-577AD5886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1E8921-81CF-9196-9726-082EE310A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D0B72A-D242-8AED-77A2-91ADADD7E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CA7C4B-4592-6A8F-FFD5-D360E60A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D6AC-80CB-4FF9-A9B2-57978C5FB859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89B408-6DE8-7439-8C24-82A9036E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054CFC7-09E1-385C-5747-662F1F71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50166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E8134-0E71-ED2E-621B-943AD5AC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C42E16-755B-1D59-808F-8E100111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B17F-D6F9-4A89-B8FD-C2DDD10C568C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93B116-939A-7553-924A-A79C6BB5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5BDC15-583A-BA9D-25E8-32F00963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18144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E41200-7723-4D48-D421-2711E82E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E1C21-0804-431B-A25D-E5CF9EBD26B3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DB0220-AC81-BD33-DBAE-D721BAF6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DF9AAC-3CBE-6737-5BCC-CAC3F707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48379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BA0D6-AD65-60BE-2E66-DEEEB022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ED4A03-8259-3B29-5CE4-879F0CAE8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4DAC01-EF89-41E2-F506-7EF0B02AA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CBE762-B2BE-0190-2A6B-D373D848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5167-E0F7-4C88-AAFB-81D773EB5272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A14649-59C3-3292-6E18-0E203C0F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5669AD-9EDD-E737-6EDE-D4034658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46301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FA496-A5B5-DED8-A61E-52E725D5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EAD0B2-43D9-91F1-5BC0-48BBFAD6E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69F0A5-55F8-1E98-301D-B4F04BA59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7B2306-12ED-0C09-9181-7D112D6D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0BD7-7FB0-469B-A126-F55CAC66EF39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26738-7B49-0868-DF22-26525339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0E17FA-4429-1C4A-6BAC-F906CBFA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8739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A51ED-0A3C-B8FB-A7C4-F0BD49AC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E304BB-04EE-129F-064D-79C77E3A2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D2CEAF-459D-69AD-50E3-4B8264B1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A3236-6C68-45D3-87EB-27F712ABFD88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D75E38-C5F7-7BB7-E20E-7BAEA05A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C8884-5024-7959-0EB3-7486A3D8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70790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4E8F70-4B83-4E20-FB05-E320893BB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602CB3-3254-EDCF-F938-892E861DF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B9F998-C53E-498F-E2E1-45EAA2F0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7A47-0289-4103-A222-78326E8E08BA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3CBF1F-A719-C819-DC0F-906F7D45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060704-8D54-4C86-EC79-3DDD0A07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92277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1DED24-D0EF-89A7-FE64-74052752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E9C63B-3767-8381-C035-492B5C77D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F81A43-357D-8676-CC11-9E29D61ED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8E0A9-E3C2-4B34-A072-C1D054743DB5}" type="datetime4">
              <a:rPr lang="de-DE" smtClean="0"/>
              <a:t>17.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F8C87-C687-C0EA-9803-0AA2DE590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EEA584-57EF-6C64-428B-6649203C1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09B90-955E-4D15-9590-89161BB2646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61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9FA6A-1897-F943-D0F3-B66953500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1078992"/>
            <a:ext cx="10378440" cy="1874519"/>
          </a:xfrm>
        </p:spPr>
        <p:txBody>
          <a:bodyPr wrap="square" lIns="0" tIns="0" rIns="0" bIns="0" anchor="ctr">
            <a:normAutofit fontScale="90000"/>
          </a:bodyPr>
          <a:lstStyle/>
          <a:p>
            <a:pPr algn="ctr"/>
            <a:r>
              <a:rPr lang="de-DE" sz="4200" b="1">
                <a:solidFill>
                  <a:srgbClr val="F7F9FA"/>
                </a:solidFill>
                <a:latin typeface="Aptos Display"/>
              </a:rPr>
              <a:t>Qualitätsmessung von Metadaten nach DCAT-AP.de Standard</a:t>
            </a:r>
            <a:endParaRPr lang="de-DE" b="1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91457F-E3D2-465B-6C4D-C3EAFDE42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840" y="3182112"/>
            <a:ext cx="10104120" cy="932688"/>
          </a:xfrm>
        </p:spPr>
        <p:txBody>
          <a:bodyPr wrap="square" lIns="0" tIns="0" rIns="0" bIns="0">
            <a:normAutofit fontScale="77500" lnSpcReduction="20000"/>
          </a:bodyPr>
          <a:lstStyle/>
          <a:p>
            <a:pPr algn="ctr"/>
            <a:r>
              <a:rPr lang="de-DE" sz="2400" b="1">
                <a:solidFill>
                  <a:srgbClr val="F7F9FA"/>
                </a:solidFill>
                <a:latin typeface="Aptos Display"/>
              </a:rPr>
              <a:t>Lars Bürger</a:t>
            </a:r>
          </a:p>
          <a:p>
            <a:pPr algn="ctr">
              <a:spcBef>
                <a:spcPts val="500"/>
              </a:spcBef>
            </a:pPr>
            <a:r>
              <a:rPr lang="de-DE" sz="1600" b="0">
                <a:solidFill>
                  <a:srgbClr val="F7F9FA"/>
                </a:solidFill>
                <a:latin typeface="Aptos"/>
              </a:rPr>
              <a:t>Master of Science Informatik, HTWG Konstanz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F3E4965-CCBA-514D-D673-D8BB02A58DED}"/>
              </a:ext>
            </a:extLst>
          </p:cNvPr>
          <p:cNvSpPr txBox="1"/>
          <p:nvPr/>
        </p:nvSpPr>
        <p:spPr>
          <a:xfrm>
            <a:off x="4008120" y="271531"/>
            <a:ext cx="4160520" cy="261610"/>
          </a:xfrm>
          <a:prstGeom prst="rect">
            <a:avLst/>
          </a:prstGeom>
          <a:solidFill>
            <a:schemeClr val="accent3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700" b="0">
                <a:solidFill>
                  <a:srgbClr val="002D47"/>
                </a:solidFill>
                <a:latin typeface="Aptos"/>
              </a:rPr>
              <a:t>Kolloquium zur Masterthesis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880" y="4803648"/>
            <a:ext cx="5669280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 err="1">
                <a:solidFill>
                  <a:srgbClr val="F7F9FA"/>
                </a:solidFill>
                <a:latin typeface="Aptos"/>
              </a:rPr>
              <a:t>Betreuerin</a:t>
            </a:r>
            <a:r>
              <a:rPr lang="en-US" sz="1600" dirty="0">
                <a:solidFill>
                  <a:srgbClr val="F7F9FA"/>
                </a:solidFill>
                <a:latin typeface="Aptos"/>
              </a:rPr>
              <a:t>: Stephanie Bornholdt</a:t>
            </a:r>
          </a:p>
          <a:p>
            <a:pPr algn="l"/>
            <a:r>
              <a:rPr lang="en-US" sz="1600" dirty="0" err="1">
                <a:solidFill>
                  <a:srgbClr val="F7F9FA"/>
                </a:solidFill>
                <a:latin typeface="Aptos"/>
              </a:rPr>
              <a:t>Zweitbetreuer</a:t>
            </a:r>
            <a:r>
              <a:rPr sz="1600" b="0" dirty="0">
                <a:solidFill>
                  <a:srgbClr val="F7F9FA"/>
                </a:solidFill>
                <a:latin typeface="Aptos"/>
              </a:rPr>
              <a:t>: Prof. Dr. Markus Eiglsperger</a:t>
            </a:r>
            <a:endParaRPr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3894284-779A-D0E5-10AD-9FE111A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 E I T E N B A U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B7F94E-8AEB-B845-C72D-D5266504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500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0A25A-0F56-FB99-29B3-14236265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43342C-BBD0-6DE2-2B65-BAC48CCE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239F5-A1BB-7D51-108A-47EBED81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028" y="1781048"/>
            <a:ext cx="22860" cy="3822191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4268" y="163474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268" y="264058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512" y="2547665"/>
            <a:ext cx="765556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Datensätze (Stand 05/2026) – eine manuelle Qualitätsprüfung ist ausgeschlossen.</a:t>
            </a:r>
            <a:endParaRPr lang="de-DE"/>
          </a:p>
        </p:txBody>
      </p:sp>
      <p:sp>
        <p:nvSpPr>
          <p:cNvPr id="10" name="TextBox 9"/>
          <p:cNvSpPr txBox="1"/>
          <p:nvPr/>
        </p:nvSpPr>
        <p:spPr>
          <a:xfrm>
            <a:off x="874268" y="378358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268" y="4899152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3052" y="1590155"/>
            <a:ext cx="887476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2D47"/>
                </a:solidFill>
                <a:latin typeface="Aptos"/>
              </a:rPr>
              <a:t>GovData aggregiert Metadaten von Bund, Ländern und Kommunen – gepflegt werden sie dezentral, in sehr unterschiedlicher Qualität.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9552" y="3590544"/>
            <a:ext cx="973836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2D47"/>
                </a:solidFill>
                <a:latin typeface="Aptos"/>
              </a:rPr>
              <a:t>Unvollständige und inkonsistente Metadaten erschweren Auffindbarkeit und Nachnutzung.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2600" y="4702556"/>
            <a:ext cx="59436" cy="89611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6892" y="4671568"/>
            <a:ext cx="8915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002D47"/>
                </a:solidFill>
                <a:latin typeface="Aptos"/>
              </a:rPr>
              <a:t>Die SHACL-Validierung prüft die formale Struktur – nicht die Nutzbarkeit.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253980" y="4974844"/>
            <a:ext cx="566928" cy="310896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4BD4E9-BE44-7C77-8036-0CF73CB1A961}"/>
              </a:ext>
            </a:extLst>
          </p:cNvPr>
          <p:cNvSpPr txBox="1"/>
          <p:nvPr/>
        </p:nvSpPr>
        <p:spPr>
          <a:xfrm>
            <a:off x="1752600" y="2540000"/>
            <a:ext cx="17018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 i="0" u="none" strike="noStrike" baseline="0">
                <a:solidFill>
                  <a:srgbClr val="002D47"/>
                </a:solidFill>
                <a:latin typeface="Aptos Display"/>
                <a:ea typeface="Aptos Display"/>
                <a:cs typeface="Aptos Display"/>
              </a:rPr>
              <a:t>151.579</a:t>
            </a:r>
            <a:endParaRPr lang="de-DE"/>
          </a:p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0385B-34E9-0684-2C88-8C9BF371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Forschungsfragen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0A25A-0F56-FB99-29B3-14236265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43342C-BBD0-6DE2-2B65-BAC48CCE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239F5-A1BB-7D51-108A-47EBED81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ZENTRALE FORSCHUNGSFRAGE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1371600"/>
            <a:ext cx="10515600" cy="1417320"/>
          </a:xfrm>
          <a:prstGeom prst="rect">
            <a:avLst/>
          </a:prstGeom>
          <a:solidFill>
            <a:srgbClr val="00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128016" rIns="384048" bIns="109728" rtlCol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de-DE" sz="1900" b="1">
                <a:solidFill>
                  <a:srgbClr val="FFFFFF"/>
                </a:solidFill>
                <a:latin typeface="Aptos"/>
              </a:rPr>
              <a:t>„Wie kann ein Bewertungsmodell für die Qualität von DCAT-AP.de-Metadaten im GovData-Kontext entwickelt werden, das formale Prüfverfahren mit ergänzenden kontext- und semantikbezogenen Qualitätsindikatoren verbindet?“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371600"/>
            <a:ext cx="68580" cy="141732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TEILFRAGEN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40156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3401568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Übertragbarkeit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bestehender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Ansätze</a:t>
            </a:r>
            <a:endParaRPr lang="en-US" dirty="0" err="1"/>
          </a:p>
        </p:txBody>
      </p:sp>
      <p:sp>
        <p:nvSpPr>
          <p:cNvPr id="22" name="TextBox 21"/>
          <p:cNvSpPr txBox="1"/>
          <p:nvPr/>
        </p:nvSpPr>
        <p:spPr>
          <a:xfrm>
            <a:off x="877824" y="3822191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3822191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Relevante Qualitätsdimensionen und Indikatoren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24281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242816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Ergänzende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semantik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- und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kontextbezogene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Prüfungen</a:t>
            </a:r>
            <a:endParaRPr sz="17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" y="466344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4663440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Konzeption und prototypische Operationalisierung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08406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5084064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Menschenlesbares Qualitätsreporting</a:t>
            </a:r>
          </a:p>
        </p:txBody>
      </p:sp>
    </p:spTree>
    <p:extLst>
      <p:ext uri="{BB962C8B-B14F-4D97-AF65-F5344CB8AC3E}">
        <p14:creationId xmlns:p14="http://schemas.microsoft.com/office/powerpoint/2010/main" val="48721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71F36-C2EE-88DC-D534-1605889A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Bewertungslücke bestehender Ansätze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B75845-5903-DE36-2963-403D29BD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CE042E-FC49-B04C-3F22-3B55564F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7E4C7F-AC7D-EA55-620A-92761C88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1013"/>
              </p:ext>
            </p:extLst>
          </p:nvPr>
        </p:nvGraphicFramePr>
        <p:xfrm>
          <a:off x="835741" y="1020096"/>
          <a:ext cx="10398618" cy="3937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7011">
                  <a:extLst>
                    <a:ext uri="{9D8B030D-6E8A-4147-A177-3AD203B41FA5}">
                      <a16:colId xmlns:a16="http://schemas.microsoft.com/office/drawing/2014/main" val="3899416473"/>
                    </a:ext>
                  </a:extLst>
                </a:gridCol>
              </a:tblGrid>
              <a:tr h="442937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Ansatz</a:t>
                      </a: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liefert</a:t>
                      </a:r>
                      <a:endParaRPr sz="1700" b="1" dirty="0" err="1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offen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 </a:t>
                      </a: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bleibt</a:t>
                      </a:r>
                      <a:endParaRPr sz="1700" b="1" dirty="0" err="1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279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ISO 25012 / Wang &amp; Strong</a:t>
                      </a: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abstrakte</a:t>
                      </a:r>
                      <a:r>
                        <a:rPr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Qualitätsbegriffe</a:t>
                      </a:r>
                      <a:r>
                        <a:rPr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Fit for Purpose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keine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operationalisierten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Metriken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841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Zaveri et al.</a:t>
                      </a:r>
                    </a:p>
                    <a:p>
                      <a:r>
                        <a:rPr dirty="0"/>
                        <a:t>(Linked-Data-</a:t>
                      </a:r>
                      <a:r>
                        <a:rPr dirty="0" err="1"/>
                        <a:t>Qualität</a:t>
                      </a:r>
                      <a:r>
                        <a:rPr dirty="0"/>
                        <a:t>)</a:t>
                      </a: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Qualitätslogiken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jenseits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formaler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Validität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Kontextwissen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nötig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kaum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automatisierbar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6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DCAT-AP.de-SHACL</a:t>
                      </a:r>
                      <a:endParaRPr dirty="0"/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verlässliche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formale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Basis</a:t>
                      </a:r>
                      <a:endParaRPr sz="1650" b="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binär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kein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Score,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technische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Ausgabe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037581"/>
                  </a:ext>
                </a:extLst>
              </a:tr>
              <a:tr h="88587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MQA (data.europa.eu)</a:t>
                      </a: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automatisiert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portalerprobt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Inhalt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der Felder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ungeprüft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5074285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 dirty="0">
                <a:solidFill>
                  <a:srgbClr val="002D47"/>
                </a:solidFill>
                <a:latin typeface="Aptos Display"/>
              </a:rPr>
              <a:t>BEWERTUNGSLÜCKE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541264"/>
            <a:ext cx="91440" cy="3931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5468112"/>
            <a:ext cx="101041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850" b="1">
                <a:solidFill>
                  <a:srgbClr val="002D47"/>
                </a:solidFill>
                <a:latin typeface="Aptos"/>
              </a:rPr>
              <a:t>Kein bestehender Ansatz verbindet formale Prüfung mit semantischer Bewertung bei voller Nachvollziehbarkeit.</a:t>
            </a:r>
          </a:p>
        </p:txBody>
      </p:sp>
    </p:spTree>
    <p:extLst>
      <p:ext uri="{BB962C8B-B14F-4D97-AF65-F5344CB8AC3E}">
        <p14:creationId xmlns:p14="http://schemas.microsoft.com/office/powerpoint/2010/main" val="896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BE762-A2BF-47D6-3E7B-BA6D066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Experteninterviews: zentrale Anforderungen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E43956-42BB-8515-7DDB-E812B2CD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310C22-3F4D-3AAE-BC2D-89A9DC12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5FEC45-1490-D407-9EA5-83BA952F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QUALITATIVE AUSWERTUNG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715008"/>
            <a:ext cx="123444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792224"/>
            <a:ext cx="15087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002D47"/>
                </a:solidFill>
                <a:latin typeface="Aptos Display"/>
              </a:rPr>
              <a:t>Experten</a:t>
            </a:r>
            <a:r>
              <a:rPr sz="2200" b="1" dirty="0">
                <a:solidFill>
                  <a:srgbClr val="002D47"/>
                </a:solidFill>
                <a:latin typeface="Aptos Display"/>
              </a:rPr>
              <a:t>-
interviews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834640"/>
            <a:ext cx="2468880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088" y="405587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LEITPRINZIP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88" y="4375912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500" b="1" dirty="0">
                <a:solidFill>
                  <a:srgbClr val="002D47"/>
                </a:solidFill>
                <a:latin typeface="Aptos Display"/>
              </a:rPr>
              <a:t>„</a:t>
            </a:r>
            <a:r>
              <a:rPr lang="en-US" sz="2500" b="1" dirty="0">
                <a:solidFill>
                  <a:srgbClr val="002D47"/>
                </a:solidFill>
                <a:latin typeface="Aptos Display"/>
              </a:rPr>
              <a:t>Fit for Purpose </a:t>
            </a:r>
            <a:r>
              <a:rPr lang="en-US" sz="2500" b="1" dirty="0" err="1">
                <a:solidFill>
                  <a:srgbClr val="002D47"/>
                </a:solidFill>
                <a:latin typeface="Aptos Display"/>
              </a:rPr>
              <a:t>statt</a:t>
            </a:r>
            <a:r>
              <a:rPr lang="en-US" sz="2500" b="1" dirty="0">
                <a:solidFill>
                  <a:srgbClr val="002D47"/>
                </a:solidFill>
                <a:latin typeface="Aptos Display"/>
              </a:rPr>
              <a:t> Formal- </a:t>
            </a:r>
            <a:r>
              <a:rPr lang="en-US" sz="2500" b="1" dirty="0" err="1">
                <a:solidFill>
                  <a:srgbClr val="002D47"/>
                </a:solidFill>
                <a:latin typeface="Aptos Display"/>
              </a:rPr>
              <a:t>erfüllung</a:t>
            </a:r>
            <a:r>
              <a:rPr sz="2500" b="1" dirty="0">
                <a:solidFill>
                  <a:srgbClr val="002D47"/>
                </a:solidFill>
                <a:latin typeface="Aptos Display"/>
              </a:rPr>
              <a:t>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1298448"/>
            <a:ext cx="16459" cy="462686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298448"/>
            <a:ext cx="7269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ZENTRALE ANFORDERUNGEN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7647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 dirty="0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55648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Formale Validierung als Basisschicht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DCAT-AP.de- / SHACL-Konformität notwendig aber nicht gleich Gesamtqualität</a:t>
            </a:r>
            <a:endParaRPr lang="de-DE" sz="1600" dirty="0">
              <a:solidFill>
                <a:srgbClr val="002D4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77639" y="2578608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69464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Kontextsensitive Vollständigkeit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Relevante Felder zählen, nicht alle</a:t>
            </a:r>
            <a:endParaRPr lang="de-DE" sz="1600" b="1" dirty="0">
              <a:solidFill>
                <a:srgbClr val="002D47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6596" y="3293033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517" y="3283889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Semantische Qualitätsaspekte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Aussagekraft von Titel, Beschreibung, Keywords und Kategorien statt bloßer Feldexistenz</a:t>
            </a:r>
            <a:endParaRPr lang="en-US" sz="160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7639" y="4206240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97096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Technische Nutzbarkeit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Die technische Erreichbarkeit und praktische Nachnutzbarkeit der referenzierten Ressourcen muss </a:t>
            </a:r>
            <a:r>
              <a:rPr lang="de-DE" sz="1600" dirty="0" err="1">
                <a:solidFill>
                  <a:srgbClr val="002D47"/>
                </a:solidFill>
                <a:latin typeface="Aptos"/>
              </a:rPr>
              <a:t>gepürft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 werden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02005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10912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Transparentes Reporting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Nachvollziehbare </a:t>
            </a:r>
            <a:r>
              <a:rPr lang="de-DE" sz="1600" dirty="0" err="1">
                <a:solidFill>
                  <a:srgbClr val="002D47"/>
                </a:solidFill>
                <a:latin typeface="Aptos"/>
              </a:rPr>
              <a:t>Teilscores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 mit konkreten Verbesserungsvorschlägen</a:t>
            </a:r>
            <a:endParaRPr lang="de-DE" sz="1600" dirty="0">
              <a:solidFill>
                <a:srgbClr val="002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08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5C0CD-F05D-53A2-D67F-E3833C50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01168"/>
            <a:ext cx="10972800" cy="932688"/>
          </a:xfrm>
        </p:spPr>
        <p:txBody>
          <a:bodyPr>
            <a:normAutofit fontScale="90000"/>
          </a:bodyPr>
          <a:lstStyle/>
          <a:p>
            <a:r>
              <a:rPr lang="de-DE" sz="3500" dirty="0"/>
              <a:t>Verdichtung der Kandidatendimensionen zu finalen Dimensionen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VERDICHTUNG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36776"/>
            <a:ext cx="987552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02D47"/>
                </a:solidFill>
                <a:latin typeface="Aptos Display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719072"/>
            <a:ext cx="17190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 Display"/>
              </a:rPr>
              <a:t>Kandidaten-
dimensionen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896112" y="2377440"/>
            <a:ext cx="2679192" cy="960120"/>
          </a:xfrm>
          <a:prstGeom prst="trapezoid">
            <a:avLst/>
          </a:prstGeom>
          <a:solidFill>
            <a:srgbClr val="00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1499616" y="3182112"/>
            <a:ext cx="1472184" cy="868680"/>
          </a:xfrm>
          <a:prstGeom prst="downArrow">
            <a:avLst/>
          </a:prstGeom>
          <a:solidFill>
            <a:srgbClr val="006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105656"/>
            <a:ext cx="1143000" cy="795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dirty="0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4197096"/>
            <a:ext cx="175564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 Display"/>
              </a:rPr>
              <a:t>finale
Dimensionen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38928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Auswahl nach Relevanz, Prüfbarkeit und Praxisnutzen.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298448"/>
            <a:ext cx="16459" cy="437083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1298448"/>
            <a:ext cx="6967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DIE VIER FINALEN QUALITÄTSDIMENSIONEN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175564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737360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Auffindbarkeit
</a:t>
            </a:r>
            <a:r>
              <a:rPr sz="1600">
                <a:solidFill>
                  <a:srgbClr val="002D47"/>
                </a:solidFill>
                <a:latin typeface="Aptos"/>
              </a:rPr>
              <a:t>Kann der Datensatz gefunden und eingeordnet werden?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2560320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9392" y="272491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706624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Zugänglichkeit
</a:t>
            </a:r>
            <a:r>
              <a:rPr sz="1600">
                <a:solidFill>
                  <a:srgbClr val="002D47"/>
                </a:solidFill>
                <a:latin typeface="Aptos"/>
              </a:rPr>
              <a:t>Ist die Ressource technisch erreichbar und nutzbar?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529584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3653167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 dirty="0">
                <a:solidFill>
                  <a:srgbClr val="00FF00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36429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 dirty="0" err="1">
                <a:solidFill>
                  <a:srgbClr val="002D47"/>
                </a:solidFill>
                <a:latin typeface="Aptos"/>
              </a:rPr>
              <a:t>Nachnutzbarkeit</a:t>
            </a:r>
            <a:r>
              <a:rPr sz="20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Ist</a:t>
            </a:r>
            <a:r>
              <a:rPr sz="1600" dirty="0">
                <a:solidFill>
                  <a:srgbClr val="002D47"/>
                </a:solidFill>
                <a:latin typeface="Aptos"/>
              </a:rPr>
              <a:t> die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Ressource</a:t>
            </a:r>
            <a:r>
              <a:rPr sz="1600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rechtlich</a:t>
            </a:r>
            <a:r>
              <a:rPr sz="1600" dirty="0">
                <a:solidFill>
                  <a:srgbClr val="002D47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organisatorisch</a:t>
            </a:r>
            <a:r>
              <a:rPr sz="1600" dirty="0">
                <a:solidFill>
                  <a:srgbClr val="002D47"/>
                </a:solidFill>
                <a:latin typeface="Aptos"/>
              </a:rPr>
              <a:t> und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maschinell</a:t>
            </a:r>
            <a:r>
              <a:rPr sz="1600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weiterverwendbar</a:t>
            </a:r>
            <a:r>
              <a:rPr sz="1600" dirty="0">
                <a:solidFill>
                  <a:srgbClr val="002D47"/>
                </a:solidFill>
                <a:latin typeface="Aptos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663440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645152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Aussagekraft
</a:t>
            </a:r>
            <a:r>
              <a:rPr sz="1600">
                <a:solidFill>
                  <a:srgbClr val="002D47"/>
                </a:solidFill>
                <a:latin typeface="Aptos"/>
              </a:rPr>
              <a:t>Sind die Metadaten inhaltlich verständlich und plausibel?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925312"/>
            <a:ext cx="10469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70818C"/>
                </a:solidFill>
                <a:latin typeface="Aptos"/>
              </a:rPr>
              <a:t>Aus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Literatur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Bewertungslücke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 und Interviews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abgeleitet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; 27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aktive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Einzelindikatoren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.</a:t>
            </a: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DB7EFCF4-32C2-7BA5-975C-AB1958ADBF5F}"/>
              </a:ext>
            </a:extLst>
          </p:cNvPr>
          <p:cNvSpPr/>
          <p:nvPr/>
        </p:nvSpPr>
        <p:spPr>
          <a:xfrm>
            <a:off x="4279392" y="4535813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3774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Indikatoren: formal, technisch, semantisch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552409"/>
              </p:ext>
            </p:extLst>
          </p:nvPr>
        </p:nvGraphicFramePr>
        <p:xfrm>
          <a:off x="841248" y="1471168"/>
          <a:ext cx="1051560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Formal (FI)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Technisch (TI)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Semantisch (SI)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Schlagwortanzahl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Themenkategorie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Vokabular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Lizenz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Lizenzliste</a:t>
                      </a:r>
                    </a:p>
                  </a:txBody>
                  <a:tcPr marL="228600" marR="182880" marT="164592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Erreichbarkeit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Download-URL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HTTP-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Statuscode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Maschinenlesbarer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Zugriffsweg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28600" marR="182880" marT="164592" marB="109728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Aussagekraft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des Titels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Kohärenz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Titel/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Beschreibung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Thematische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Konsistenz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28600" marR="182880" marT="164592" marB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1408" y="5557520"/>
            <a:ext cx="104973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0818C"/>
                </a:solidFill>
                <a:latin typeface="Aptos"/>
              </a:rPr>
              <a:t>Insgesamt 27 Indikatoren, jeder mit Herleitung aus Standard, Konvention, Literatur oder Interview.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Vier Prinzipien des Messmodells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BEWERTUNGSLOGIK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1888" y="1682496"/>
            <a:ext cx="14630" cy="4133087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" y="3767328"/>
            <a:ext cx="10515600" cy="1463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55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Ternär vs. graduell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4251960" cy="6912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Diskrete Stufen versus kontinuierlicher Erfüllungsgrad von 0 bis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1755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Mittelung über Distributionen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2286000"/>
            <a:ext cx="4251960" cy="662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Statt Best-Distribution-Prinzip der MQA: Jede defekte Distribution wird sichtbar.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41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002D47"/>
                </a:solidFill>
                <a:latin typeface="Aptos Display"/>
              </a:rPr>
              <a:t>Malus-</a:t>
            </a:r>
            <a:r>
              <a:rPr sz="2200" b="1" dirty="0" err="1">
                <a:solidFill>
                  <a:srgbClr val="002D47"/>
                </a:solidFill>
                <a:latin typeface="Aptos Display"/>
              </a:rPr>
              <a:t>Prinzip</a:t>
            </a:r>
            <a:endParaRPr sz="2200" b="1" dirty="0">
              <a:solidFill>
                <a:srgbClr val="002D47"/>
              </a:solidFill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425196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Defekte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URL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oder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unklare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Lizenz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werden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negativ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mit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null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bewertet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041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Nicht anwendbar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4572000"/>
            <a:ext cx="4251960" cy="592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Fachlich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nicht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zutreffende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Kriterien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werden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neutral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übersprungen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972800" cy="539496"/>
          </a:xfrm>
        </p:spPr>
        <p:txBody>
          <a:bodyPr>
            <a:normAutofit fontScale="90000"/>
          </a:bodyPr>
          <a:lstStyle/>
          <a:p>
            <a:r>
              <a:rPr sz="3500" dirty="0" err="1"/>
              <a:t>Sprachmodellgestützte</a:t>
            </a:r>
            <a:r>
              <a:rPr sz="3500" dirty="0"/>
              <a:t> </a:t>
            </a:r>
            <a:r>
              <a:rPr sz="3500" dirty="0" err="1"/>
              <a:t>Bewertung</a:t>
            </a:r>
            <a:r>
              <a:rPr lang="en-US" sz="3500" dirty="0"/>
              <a:t> der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7343464" y="337913"/>
            <a:ext cx="2880360" cy="6683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Aptos Display"/>
              </a:rPr>
              <a:t>Aussagekraft</a:t>
            </a:r>
            <a:endParaRPr sz="3600" b="1" dirty="0">
              <a:solidFill>
                <a:schemeClr val="accent3"/>
              </a:solidFill>
              <a:latin typeface="Aptos Display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9536" y="2329434"/>
            <a:ext cx="2862072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2435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MODELL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685925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dirty="0">
                <a:solidFill>
                  <a:srgbClr val="002D47"/>
                </a:solidFill>
                <a:latin typeface="Aptos Display"/>
              </a:rPr>
              <a:t>GPT-5.5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334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ARCHITEKTURPRINZIP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54096"/>
            <a:ext cx="2999231" cy="17096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dirty="0">
                <a:solidFill>
                  <a:srgbClr val="002D47"/>
                </a:solidFill>
                <a:latin typeface="Aptos"/>
              </a:rPr>
              <a:t>Ein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Aufruf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lang="en-US"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Agentenkette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:</a:t>
            </a:r>
            <a:endParaRPr lang="en-US" sz="1700" b="1" dirty="0">
              <a:solidFill>
                <a:srgbClr val="002D47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endParaRPr lang="en-US" sz="1700" b="1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weniger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Kosten</a:t>
            </a:r>
            <a:endParaRPr lang="en-US" sz="1700" b="0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höhere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Konsistenz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endParaRPr lang="en-US" sz="1700" b="0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bessere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Nachvollziehbarkeit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1243584"/>
            <a:ext cx="16459" cy="462686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24358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STRUKTURIERTE AUSGABE — FESTE REIHENFOLGE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1664208"/>
            <a:ext cx="6812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2D47"/>
                </a:solidFill>
                <a:latin typeface="Aptos"/>
              </a:rPr>
              <a:t>findings  →  reasoning  →  applicable  → 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331720"/>
            <a:ext cx="6812280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2633472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SECHS KRITERIEN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05409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054096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Aussagekraft Titel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80390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80390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Aussagekraft Beschreibung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455371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4553712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Kohärenz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Titel/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Beschreibung</a:t>
            </a:r>
            <a:endParaRPr sz="165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27264" y="305409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054096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Qualität Schlagwörter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380390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80390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Thematische Konsistenz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4" y="455371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4553712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Kontextuelle Qualifizierer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Verarbeitungspipeline</a:t>
            </a:r>
            <a:endParaRPr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391D2C8-E1BD-E747-4A28-D3740845A533}"/>
              </a:ext>
            </a:extLst>
          </p:cNvPr>
          <p:cNvSpPr/>
          <p:nvPr/>
        </p:nvSpPr>
        <p:spPr>
          <a:xfrm>
            <a:off x="841248" y="1188720"/>
            <a:ext cx="3611880" cy="4526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C2E6939-DAEA-3993-05DF-B4845D680A77}"/>
              </a:ext>
            </a:extLst>
          </p:cNvPr>
          <p:cNvSpPr/>
          <p:nvPr/>
        </p:nvSpPr>
        <p:spPr>
          <a:xfrm>
            <a:off x="841248" y="1188720"/>
            <a:ext cx="82296" cy="452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6B3AB4E-B8BC-0F24-2462-E45BD807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9576" y="1417320"/>
            <a:ext cx="2889504" cy="3793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63440" y="1188720"/>
            <a:ext cx="667512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Technologie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Python 3.12 · rdflib (RDF) · Pydantic (strukturierte LLM-Ausgabe) · LangChain (Modellanbindung) · Hydra (Konfiguration)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25496"/>
            <a:ext cx="6675120" cy="117957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Bedarfsgesteuert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Netzabruf und Sprachmodellaufruf laufen nur, wenn ein aktiver Indikator sie tatsächlich benötigt.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142232"/>
            <a:ext cx="6675120" cy="117957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Erweiterbar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Neue Indikatoren registrieren sich selbst, keine Anpassung der Pipeline nötig.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22976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70818C"/>
                </a:solidFill>
                <a:latin typeface="Aptos"/>
              </a:rPr>
              <a:t>Drei externe Abhängigkeiten: Distributions-Endpunkte, Sprachmodell, SHACL-Validierungsdienst.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Scoring &amp; Gewichtung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ZWEI AGGREGATIONSSTUFEN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74349"/>
            <a:ext cx="9418320" cy="9326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dirty="0" err="1">
                <a:solidFill>
                  <a:srgbClr val="002D47"/>
                </a:solidFill>
                <a:latin typeface="Aptos"/>
              </a:rPr>
              <a:t>Dimensionswert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=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gewichteter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Mittelwert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der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Indikatorpunkte</a:t>
            </a:r>
            <a:endParaRPr sz="2100" b="0" dirty="0">
              <a:solidFill>
                <a:srgbClr val="002D47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solidFill>
                  <a:srgbClr val="70818C"/>
                </a:solidFill>
                <a:latin typeface="Aptos"/>
              </a:rPr>
              <a:t>bei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0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nach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unten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begrenzt</a:t>
            </a:r>
            <a:endParaRPr sz="1500" b="0" dirty="0">
              <a:solidFill>
                <a:srgbClr val="70818C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1248" y="2679192"/>
            <a:ext cx="10497312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99923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010204"/>
            <a:ext cx="9418320" cy="9326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dirty="0" err="1">
                <a:solidFill>
                  <a:srgbClr val="002D47"/>
                </a:solidFill>
                <a:latin typeface="Aptos"/>
              </a:rPr>
              <a:t>Gesamtscore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=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gewichteter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Mittelwert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der vier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Dimensionswerte</a:t>
            </a:r>
            <a:endParaRPr sz="21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1248" y="4005072"/>
            <a:ext cx="10497312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3342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GEWICHTUNGSLOGIK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9087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690872"/>
            <a:ext cx="100401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Zugänglichkeit und Aussagekraft erhalten mit 2,0 die höchsten Dimensionsgewichte, da ein Versagen hier den Datensatz am stärksten entwertet.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40410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404104"/>
            <a:ext cx="100401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Datenbrechende Indikatoren wie Erreichbarkeit und Lizenz werden zusätzlich auf Indikatorebene angehoben.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Vom Prüfergebnis zum Befund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EINHEITLICHE BEFUND-STRUKTUR ÜBER ALLE 27 INDIKATOREN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Kernaussage
</a:t>
            </a:r>
            <a:r>
              <a:rPr sz="1500" b="0">
                <a:solidFill>
                  <a:srgbClr val="002D47"/>
                </a:solidFill>
                <a:latin typeface="Aptos"/>
              </a:rPr>
              <a:t>sofort erfassbar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Ist-Angaben
</a:t>
            </a:r>
            <a:r>
              <a:rPr sz="1500" b="0">
                <a:solidFill>
                  <a:srgbClr val="002D47"/>
                </a:solidFill>
                <a:latin typeface="Aptos"/>
              </a:rPr>
              <a:t>mit konkreter Fundstelle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Handlungsanweisung
</a:t>
            </a:r>
            <a:r>
              <a:rPr sz="1500" b="0">
                <a:solidFill>
                  <a:srgbClr val="002D47"/>
                </a:solidFill>
                <a:latin typeface="Aptos"/>
              </a:rPr>
              <a:t>statt technischer Fehlermeldung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450592"/>
            <a:ext cx="104973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DREI ZIELGRUPPEN — UNTERSCHIEDLICHER AUFLÖSUNGSBEDARF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834640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002D47"/>
                </a:solidFill>
                <a:latin typeface="Aptos"/>
              </a:rPr>
              <a:t>Datennutzende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Gesamtscore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  ·  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Datenbereitstellende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Einzelbefund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je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Indikator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  ·  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Portalbetreibende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Aggregation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über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den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Bestand</a:t>
            </a:r>
            <a:endParaRPr sz="14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4700016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thesis/images/frontend_trefferliste.png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52544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BEFUNDANSICHT MANUELL EINFÜGEN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0016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thesis/images/frontend_befund.png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978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0818C"/>
                </a:solidFill>
                <a:latin typeface="Aptos"/>
              </a:rPr>
              <a:t>Der Demonstrator bildet die GovData-Portaloberfläche nach.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CA56D159-F995-108F-B1C3-1E9BEA57A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01568"/>
            <a:ext cx="4216083" cy="240296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80C3AD7-5141-92B5-F9B0-05E6A58FE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234" y="3401568"/>
            <a:ext cx="4839566" cy="2406414"/>
          </a:xfrm>
          <a:prstGeom prst="rect">
            <a:avLst/>
          </a:prstGeom>
        </p:spPr>
      </p:pic>
      <p:sp>
        <p:nvSpPr>
          <p:cNvPr id="26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8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Evaluationsdesign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408" y="13736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GROUND TRUTH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51408" y="1794256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408" y="20685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016" y="206857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Manuelle Referenzbewertung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408" y="261721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016" y="261721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50 Datensätze Kernstichprobe + 20 Extremfälle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408" y="316585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016" y="316585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Sechsstufige Skala je 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408" y="37144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4016" y="371449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Blind gegenüber Prototyp-Scores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232" y="13736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MQA-BASELINE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1232" y="1794256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1232" y="20685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3840" y="206857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Reimplementierte Metadata Quality Assessment von data.europa.eu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232" y="283667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3840" y="2836672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Gleicher RDF-Input wie beim Prototyp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1408" y="4409440"/>
            <a:ext cx="1034186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1408" y="471119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HYPOTHESEN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408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8336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Konvergenz auf äquivalenten Prüfungen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4416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1344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Mehrwert durch tiefere Prüfung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7424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352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Höhere Korrektheit als Baseline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Hauptergebnisse im Überblick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EVALUATION AUF KERNSTICHPROBE UND EXTREMFÄLLEN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00FF00"/>
                </a:solidFill>
                <a:latin typeface="Aptos Display"/>
              </a:rPr>
              <a:t>ρ = 0,765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Rangkorrelation mit Ground Truth
Kernstichprobe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1673352"/>
            <a:ext cx="12801" cy="14904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4256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0FF00"/>
                </a:solidFill>
                <a:latin typeface="Aptos Display"/>
              </a:rPr>
              <a:t>92 %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korrekte Gesamteinordnung
gut / mittel / schlecht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0375" y="1673352"/>
            <a:ext cx="12801" cy="14904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0FF00"/>
                </a:solidFill>
                <a:latin typeface="Aptos Display"/>
              </a:rPr>
              <a:t>ρ = 0,829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Korrelation Gesamtscore
mit MQA-Baseline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410712"/>
            <a:ext cx="10332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749039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00FF00"/>
                </a:solidFill>
                <a:latin typeface="Aptos Display"/>
              </a:rPr>
              <a:t>15,8 %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98848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Überschätzungsrate der MQA-Baseline
auf vertieft geprüften Indikatoren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3694176"/>
            <a:ext cx="12801" cy="160934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3749039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00FF00"/>
                </a:solidFill>
                <a:latin typeface="Aptos Display"/>
              </a:rPr>
              <a:t>5/6 · 6/6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4498848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Zielgrößen näher am menschlichen Urteil
Kernstichprobe · Extremfälle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/>
          <a:lstStyle/>
          <a:p>
            <a:r>
              <a:rPr sz="3500"/>
              <a:t>Konvergenz auf Klasse A, Überschätzung auf Klasse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52" y="1270464"/>
            <a:ext cx="33636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KLASSE A — ÄQUIVALENTE PRÜFUNG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52" y="1636224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dirty="0">
                <a:solidFill>
                  <a:srgbClr val="00FF00"/>
                </a:solidFill>
                <a:latin typeface="Aptos Display"/>
              </a:rPr>
              <a:t>96 %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6752" y="1704804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Übereinstimmung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mit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MQA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19" y="1270464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KLASSE B — VORHANDENSEIN VS. GÜLTIGKEIT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819" y="1636224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dirty="0">
                <a:solidFill>
                  <a:srgbClr val="00FF00"/>
                </a:solidFill>
                <a:latin typeface="Aptos Display"/>
              </a:rPr>
              <a:t>15,8 %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547" y="1704804"/>
            <a:ext cx="23577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dirty="0">
                <a:solidFill>
                  <a:srgbClr val="002D47"/>
                </a:solidFill>
                <a:latin typeface="Aptos"/>
              </a:rPr>
              <a:t>MQA </a:t>
            </a:r>
            <a:r>
              <a:rPr sz="1650" b="1" dirty="0" err="1">
                <a:solidFill>
                  <a:srgbClr val="002D47"/>
                </a:solidFill>
                <a:latin typeface="Aptos"/>
              </a:rPr>
              <a:t>überschätzt</a:t>
            </a:r>
            <a:r>
              <a:rPr sz="1650" b="1" dirty="0">
                <a:solidFill>
                  <a:srgbClr val="002D47"/>
                </a:solidFill>
                <a:latin typeface="Aptos"/>
              </a:rPr>
              <a:t>; polit. </a:t>
            </a:r>
            <a:r>
              <a:rPr sz="1650" b="1" dirty="0" err="1">
                <a:solidFill>
                  <a:srgbClr val="002D47"/>
                </a:solidFill>
                <a:latin typeface="Aptos"/>
              </a:rPr>
              <a:t>Geokodierung</a:t>
            </a:r>
            <a:r>
              <a:rPr sz="1650" b="1" dirty="0">
                <a:solidFill>
                  <a:srgbClr val="002D47"/>
                </a:solidFill>
                <a:latin typeface="Aptos"/>
              </a:rPr>
              <a:t>: 56 %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3101711B-CF0B-97AA-4702-58DEE674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2" y="2556534"/>
            <a:ext cx="3581408" cy="330338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7B83819-610E-7494-04E0-14BB77E6A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19" y="2537881"/>
            <a:ext cx="6080029" cy="3303382"/>
          </a:xfrm>
          <a:prstGeom prst="rect">
            <a:avLst/>
          </a:prstGeom>
        </p:spPr>
      </p:pic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/>
          <a:lstStyle/>
          <a:p>
            <a:r>
              <a:rPr sz="3500"/>
              <a:t>Triangulation: wer liegt näher am menschlichen Urteil?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GROUND TRUTH ALS GEMEINSAMER VERGLEICHSMASSSTAB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2D47"/>
                </a:solidFill>
                <a:latin typeface="Aptos Display"/>
              </a:rPr>
              <a:t>KERNSTICHPROBE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984248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Prototyp bei 5 von 6 Zielgrößen vorn.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1518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615184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Einzige Ausnahme: Auffindbarkeit — zugleich niedrigstes Dimensionsgewicht.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645920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2D47"/>
                </a:solidFill>
                <a:latin typeface="Aptos Display"/>
              </a:rPr>
              <a:t>EXTREMFÄLLE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Prototyp bei allen 6 Zielgrößen vorn.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61518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615184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Deutlich größere Abstände zur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370832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KERNSTICHPROBE MANUELL EINFÜGEN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18304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thesis/images/mqa_triangulation_kernstichprobe.png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70832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EXTREMFÄLLE OPTIONAL EINFÜGEN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18304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thesis/images/mqa_triangulation_extremfaelle.png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4F517CF4-D3DF-704F-685D-979682971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" y="3282696"/>
            <a:ext cx="3927764" cy="273110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3E30A166-AED9-C5DB-E2AC-540F438C1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376" y="3282696"/>
            <a:ext cx="3927764" cy="2731105"/>
          </a:xfrm>
          <a:prstGeom prst="rect">
            <a:avLst/>
          </a:prstGeom>
        </p:spPr>
      </p:pic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Grenzfall: Aussagekraft auf den Extremfällen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4325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BEFUND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FF00"/>
                </a:solidFill>
                <a:latin typeface="Aptos Display"/>
              </a:rPr>
              <a:t>ρ = 0,321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65506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002D47"/>
                </a:solidFill>
                <a:latin typeface="Aptos"/>
              </a:rPr>
              <a:t>nur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34 % des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theoretisch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erreichbaren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Werts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41098"/>
            <a:ext cx="4023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2281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Relationale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Kriterien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bleiben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zu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hoch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Kohärenz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und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thematische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Konsistenz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wirken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bei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durchgängig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schwachem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Inhalt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dennoch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widerspruchsfrei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94410"/>
            <a:ext cx="4023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76122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Mittelung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kompensiert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harte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Defizite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Die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ungewichtete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Mittelung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über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sechs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Teilkriterien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neutralisiert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ein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einzelnes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hartes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Defizit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94376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002D47"/>
                </a:solidFill>
                <a:latin typeface="Aptos"/>
              </a:rPr>
              <a:t>Kernstichprobe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unauffällig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: ρ = 0,569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3467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DIMENSIONSKORRELATION MANUELL EINFÜGEN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694176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thesis/images/gt_extremfaelle_rho_dimension.png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950123D-15CA-CDF1-C0B5-438F34FA4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2" y="1655064"/>
            <a:ext cx="5882640" cy="2972734"/>
          </a:xfrm>
          <a:prstGeom prst="rect">
            <a:avLst/>
          </a:prstGeom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Ein Beispiel: Justizblatt-Datensatz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WARUM EIN HARTES DEFIZIT IM MITTEL VERSCHWINDET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METADATEN-AUSSCHNITT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4140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E40014"/>
                </a:solidFill>
                <a:latin typeface="Arial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75452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Beschreibung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2800" b="1" dirty="0">
                <a:solidFill>
                  <a:srgbClr val="002D47"/>
                </a:solidFill>
                <a:latin typeface="Aptos"/>
              </a:rPr>
              <a:t>„</a:t>
            </a:r>
            <a:r>
              <a:rPr sz="2800" b="1" dirty="0" err="1">
                <a:solidFill>
                  <a:srgbClr val="002D47"/>
                </a:solidFill>
                <a:latin typeface="Aptos"/>
              </a:rPr>
              <a:t>Justizblatt</a:t>
            </a:r>
            <a:r>
              <a:rPr sz="2800" b="1" dirty="0">
                <a:solidFill>
                  <a:srgbClr val="002D47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94176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dirty="0">
                <a:solidFill>
                  <a:srgbClr val="002D47"/>
                </a:solidFill>
                <a:latin typeface="Aptos"/>
              </a:rPr>
              <a:t>Ein Wort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liefert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kaum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Kontext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, Zweck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oder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thematische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Einordnung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488" y="1508760"/>
            <a:ext cx="14630" cy="4315968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1719072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BEWERTUNG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13969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dirty="0" err="1">
                <a:solidFill>
                  <a:srgbClr val="002D47"/>
                </a:solidFill>
                <a:latin typeface="Aptos"/>
              </a:rPr>
              <a:t>Beschreibungsqualität</a:t>
            </a:r>
            <a:endParaRPr sz="1800" b="1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0" y="207568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E40014"/>
                </a:solidFill>
                <a:latin typeface="Aptos Display"/>
              </a:rPr>
              <a:t>FAIL · 0,15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761488"/>
            <a:ext cx="5733288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3090672"/>
            <a:ext cx="38862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"/>
              </a:rPr>
              <a:t>Übrige 5 Kriterien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02666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2D47"/>
                </a:solidFill>
                <a:latin typeface="Aptos Display"/>
              </a:rPr>
              <a:t>0,65–0,95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3758184"/>
            <a:ext cx="5733288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0680" y="4096512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"/>
              </a:rPr>
              <a:t>Gemittelter Dimensionswert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977639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600" b="1" dirty="0">
                <a:solidFill>
                  <a:srgbClr val="00FF00"/>
                </a:solidFill>
                <a:latin typeface="Aptos Display"/>
              </a:rPr>
              <a:t>0,72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79592"/>
            <a:ext cx="104424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818C"/>
                </a:solidFill>
                <a:latin typeface="Aptos"/>
              </a:rPr>
              <a:t>Ein einzelnes hartes Defizit wird durch fünf unauffällige Werte praktisch neutralisiert.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Kuratiertes Extrembeispiel: „Justizblatt“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818C"/>
                </a:solidFill>
                <a:latin typeface="Aptos Display"/>
              </a:rPr>
              <a:t>BEISPIEL AN EINEM METADATENSATZ AUS DER KURATIERTEN EXTREMFALL-STICHPROBE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1  ·  METADATENSATZ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7510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D47"/>
                </a:solidFill>
                <a:latin typeface="Aptos"/>
              </a:rPr>
              <a:t>Feld: Beschreibung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386584"/>
            <a:ext cx="50292" cy="612648"/>
          </a:xfrm>
          <a:prstGeom prst="rect">
            <a:avLst/>
          </a:prstGeom>
          <a:solidFill>
            <a:srgbClr val="E4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2D47"/>
                </a:solidFill>
                <a:latin typeface="Aptos Display"/>
              </a:rPr>
              <a:t>„Justizblatt“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44952"/>
            <a:ext cx="34930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0818C"/>
                </a:solidFill>
                <a:latin typeface="Aptos"/>
              </a:rPr>
              <a:t>Nur ein Wort – kaum Kontext, Zweck oder thematische Einordnung.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2544" y="2386584"/>
            <a:ext cx="548640" cy="283464"/>
          </a:xfrm>
          <a:prstGeom prst="rightArrow">
            <a:avLst/>
          </a:prstGeom>
          <a:solidFill>
            <a:srgbClr val="00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7216" y="1627632"/>
            <a:ext cx="5266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2  ·  TEILKRITERIUM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975104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Beschreibungsqualität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40014"/>
                </a:solidFill>
                <a:latin typeface="Aptos Display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359152"/>
            <a:ext cx="217627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40014"/>
                </a:solidFill>
                <a:latin typeface="Aptos Display"/>
              </a:rPr>
              <a:t>0,15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596896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40014"/>
                </a:solidFill>
                <a:latin typeface="Aptos"/>
              </a:rPr>
              <a:t>hartes Defizit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3044952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0818C"/>
                </a:solidFill>
                <a:latin typeface="Aptos"/>
              </a:rPr>
              <a:t>Die knappe Beschreibung fällt im entscheidenden Teilkriterium deutlich 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785615"/>
            <a:ext cx="9628632" cy="10972"/>
          </a:xfrm>
          <a:prstGeom prst="rect">
            <a:avLst/>
          </a:prstGeom>
          <a:solidFill>
            <a:srgbClr val="D5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968496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3  ·  MITTELUNG ZUM DIMENSIONSWERT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352544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40014"/>
                </a:solidFill>
                <a:latin typeface="Aptos Display"/>
              </a:rPr>
              <a:t>0,15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19472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0014"/>
                </a:solidFill>
                <a:latin typeface="Aptos"/>
              </a:rPr>
              <a:t>1 hartes Defizit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434840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70818C"/>
                </a:solidFill>
                <a:latin typeface="Apto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4" y="4325112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02D47"/>
                </a:solidFill>
                <a:latin typeface="Aptos Display"/>
              </a:rPr>
              <a:t>5 × 0,65–0,95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4919472"/>
            <a:ext cx="254203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818C"/>
                </a:solidFill>
                <a:latin typeface="Aptos"/>
              </a:rPr>
              <a:t>übrige Kriterien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434840"/>
            <a:ext cx="38404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70818C"/>
                </a:solidFill>
                <a:latin typeface="Aptos"/>
              </a:rPr>
              <a:t>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9984" y="4297680"/>
            <a:ext cx="50292" cy="758952"/>
          </a:xfrm>
          <a:prstGeom prst="rect">
            <a:avLst/>
          </a:prstGeom>
          <a:solidFill>
            <a:srgbClr val="00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8584" y="426110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0E500"/>
                </a:solidFill>
                <a:latin typeface="Aptos Display"/>
              </a:rPr>
              <a:t>0,72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4919472"/>
            <a:ext cx="225856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"/>
              </a:rPr>
              <a:t>gemittelter Wert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404104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2D47"/>
                </a:solidFill>
                <a:latin typeface="Aptos"/>
              </a:rPr>
              <a:t>Das Beispiel zeigt: Ein hartes Defizit wird durch fünf unauffällige Werte praktisch neutralisiert.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Antworten</a:t>
            </a:r>
            <a:r>
              <a:rPr dirty="0"/>
              <a:t> auf die </a:t>
            </a:r>
            <a:r>
              <a:rPr dirty="0" err="1"/>
              <a:t>Teilfragen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64750"/>
              </p:ext>
            </p:extLst>
          </p:nvPr>
        </p:nvGraphicFramePr>
        <p:xfrm>
          <a:off x="863600" y="1391920"/>
          <a:ext cx="10501994" cy="4616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6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3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 Display"/>
                        </a:rPr>
                        <a:t>Teilfrage</a:t>
                      </a:r>
                    </a:p>
                  </a:txBody>
                  <a:tcPr marL="164592" marR="128016" marT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 Display"/>
                        </a:rPr>
                        <a:t>Antwort in einem Satz</a:t>
                      </a:r>
                    </a:p>
                  </a:txBody>
                  <a:tcPr marL="164592" marR="128016" marT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TF1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Bestehende Ansätze sind schichtweise übertragbar; entscheidend ist die Prüfbarkeit aus dem Metadatensatz.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TF2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Vier Dimensionen, 27 Indikatoren, vier von fünf Interview-Anforderungen umgesetzt.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TF3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LLM-gestützte Aussagekraft ergänzt das Modell nachvollziehbar, bleibt aber schwächste Dimension.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TF4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Durchgehende Verarbeitungspipeline mit vier zentralen Messmodell-Entscheidungen.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TF5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Einheitlicher Befund mit Handlungsanweisung statt Punktzahl; empirisch nicht mit Datenbereitstellenden geprüft.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>
            <a:normAutofit fontScale="90000"/>
          </a:bodyPr>
          <a:lstStyle/>
          <a:p>
            <a:r>
              <a:rPr lang="de-DE" dirty="0"/>
              <a:t>Konzeptionelle Grenze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29792"/>
            <a:ext cx="10479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1500" b="1" dirty="0">
                <a:solidFill>
                  <a:srgbClr val="002D47"/>
                </a:solidFill>
                <a:latin typeface="Aptos Display"/>
              </a:rPr>
              <a:t>VOLLSTÄNDIGKEIT DER BEWERTUNG HÄNGT STARK VOM NUTZUNGSKONTEXT 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1047902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2000" b="1" dirty="0">
                <a:solidFill>
                  <a:srgbClr val="002D47"/>
                </a:solidFill>
                <a:latin typeface="Aptos Display"/>
              </a:rPr>
              <a:t>Referenzdatensatz: Lübeck Feinstaub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3969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>
                <a:solidFill>
                  <a:srgbClr val="00FF00"/>
                </a:solidFill>
                <a:latin typeface="Aptos Display"/>
              </a:rPr>
              <a:t>NUTZUNGSSZENARIO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328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2700" b="1">
                <a:solidFill>
                  <a:srgbClr val="002D47"/>
                </a:solidFill>
                <a:latin typeface="Aptos Display"/>
              </a:rPr>
              <a:t>Einmalige Auswertung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3969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>
                <a:solidFill>
                  <a:srgbClr val="E40014"/>
                </a:solidFill>
                <a:latin typeface="Aptos Display"/>
              </a:rPr>
              <a:t>NUTZUNGSSZENARIO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5328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2700" b="1">
                <a:solidFill>
                  <a:srgbClr val="002D47"/>
                </a:solidFill>
                <a:latin typeface="Aptos Display"/>
              </a:rPr>
              <a:t>Fortlaufender Dienst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64845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600" b="0">
                <a:solidFill>
                  <a:srgbClr val="002D47"/>
                </a:solidFill>
                <a:latin typeface="Aptos"/>
              </a:rPr>
              <a:t>Grund: </a:t>
            </a:r>
            <a:r>
              <a:rPr sz="1600" b="0">
                <a:solidFill>
                  <a:srgbClr val="002D47"/>
                </a:solidFill>
                <a:latin typeface="Aptos"/>
              </a:rPr>
              <a:t>Aktualisierungsfrequenz fehlt.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2704" y="2121408"/>
            <a:ext cx="14630" cy="1901952"/>
          </a:xfrm>
          <a:prstGeom prst="rect">
            <a:avLst/>
          </a:prstGeom>
          <a:solidFill>
            <a:srgbClr val="D4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389120"/>
            <a:ext cx="10479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 dirty="0">
                <a:solidFill>
                  <a:srgbClr val="002D47"/>
                </a:solidFill>
                <a:latin typeface="Aptos Display"/>
              </a:rPr>
              <a:t>KONSEQUENZ FÜR DIE INTERPRETATION</a:t>
            </a:r>
            <a:endParaRPr sz="1500" b="1" dirty="0">
              <a:solidFill>
                <a:srgbClr val="002D47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4681728"/>
            <a:ext cx="10287000" cy="1078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de-DE" sz="1800" b="1">
                <a:solidFill>
                  <a:srgbClr val="002D47"/>
                </a:solidFill>
                <a:latin typeface="Aptos"/>
              </a:rPr>
              <a:t>Das Nutzungsszenario ist Teil des Bewertungsmaßstabs.</a:t>
            </a:r>
          </a:p>
          <a:p>
            <a:pPr algn="l"/>
            <a:r>
              <a:rPr lang="de-DE" sz="1900" b="1">
                <a:solidFill>
                  <a:srgbClr val="00FF00"/>
                </a:solidFill>
                <a:latin typeface="Aptos"/>
              </a:rPr>
              <a:t>Die Rangkorrelation von 0,765</a:t>
            </a:r>
            <a:r>
              <a:rPr lang="de-DE" sz="1900" b="1">
                <a:solidFill>
                  <a:srgbClr val="002D47"/>
                </a:solidFill>
                <a:latin typeface="Aptos"/>
              </a:rPr>
              <a:t> zeigt Übereinstimmung mit diesem Maßstab – </a:t>
            </a:r>
            <a:r>
              <a:rPr lang="de-DE" sz="1900" b="1">
                <a:solidFill>
                  <a:srgbClr val="E40014"/>
                </a:solidFill>
                <a:latin typeface="Aptos"/>
              </a:rPr>
              <a:t>nicht objektive Richtigkeit.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029968"/>
            <a:ext cx="4572000" cy="3200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2029968"/>
            <a:ext cx="4572000" cy="32004"/>
          </a:xfrm>
          <a:prstGeom prst="rect">
            <a:avLst/>
          </a:prstGeom>
          <a:solidFill>
            <a:srgbClr val="E4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" y="4160520"/>
            <a:ext cx="10479024" cy="18288"/>
          </a:xfrm>
          <a:prstGeom prst="rect">
            <a:avLst/>
          </a:prstGeom>
          <a:solidFill>
            <a:srgbClr val="D4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70818C"/>
                </a:solidFill>
                <a:latin typeface="Aptos"/>
              </a:rPr>
              <a:t>BEWERTUNG  </a:t>
            </a:r>
            <a:r>
              <a:rPr sz="2300" b="1">
                <a:solidFill>
                  <a:srgbClr val="00FF00"/>
                </a:solidFill>
                <a:latin typeface="Aptos Display"/>
              </a:rPr>
              <a:t>vollständig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154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70818C"/>
                </a:solidFill>
                <a:latin typeface="Aptos"/>
              </a:rPr>
              <a:t>BEWERTUNG  </a:t>
            </a:r>
            <a:r>
              <a:rPr sz="2300" b="1">
                <a:solidFill>
                  <a:srgbClr val="E40014"/>
                </a:solidFill>
                <a:latin typeface="Aptos Display"/>
              </a:rPr>
              <a:t>unvollständig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Methodische &amp; technische Grenzen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METHODISCH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29968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31720"/>
            <a:ext cx="4553712" cy="373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Gewichte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begründet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,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aber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nicht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validiert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4553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4553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Referenzbewertung durch eine einzige Person; keine Inter-Rater-Reliabilität bestimmbar.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7927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0808" y="3879274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Lineare Aggregation erlaubt Kompensation zwischen Dimensionen.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27632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TECHNISCH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029968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Modellabhängigkeit; reproduzierbar nur mit Angabe von Modell und Prompt.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14553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4553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Laufende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Kosten: ca. 1,79 USD je 50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Datensätze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87927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79274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Konformitätsprüfung abhängig von externem SHACL-Dienst.</a:t>
            </a:r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4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5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Drei Befunde über diese Arbeit hinaus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GENERALISIERBARE MESSPRINZIPIEN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1609344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Modellauswahl braucht Reproduzierbarkeitsprüfung
</a:t>
            </a:r>
            <a:r>
              <a:rPr sz="1650" b="0">
                <a:solidFill>
                  <a:srgbClr val="002D47"/>
                </a:solidFill>
                <a:latin typeface="Aptos"/>
              </a:rPr>
              <a:t>Sie liefert die Auflösungsgrenze für interpretierbare Unterschiede.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724912"/>
            <a:ext cx="947318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035808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999232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Messunsicherheit muss kleiner als der Informationsbeitrag bleiben
</a:t>
            </a:r>
            <a:r>
              <a:rPr sz="1650" b="0">
                <a:solidFill>
                  <a:srgbClr val="002D47"/>
                </a:solidFill>
                <a:latin typeface="Aptos"/>
              </a:rPr>
              <a:t>Andernfalls verschlechtert der Indikator das Gesamturteil.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9344" y="4114800"/>
            <a:ext cx="947318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421124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4389120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Gesamtscore-Vergleich allein ist nicht aussagekräftig
</a:t>
            </a:r>
            <a:r>
              <a:rPr sz="1650" b="0">
                <a:solidFill>
                  <a:srgbClr val="002D47"/>
                </a:solidFill>
                <a:latin typeface="Aptos"/>
              </a:rPr>
              <a:t>Hier: ρ = 0,829 Korrelation trotz 15,8 % nachweisbarer Überschätzung auf Indikatorebene.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Beitrag, Ausblick, Praxis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BEITRAG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Rückführbare Indikatormenge aus Literatur und Empirie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821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87377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Vollständig operationalisiert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01807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82219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Gegen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menschliches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Urteil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geprüft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627632"/>
            <a:ext cx="12801" cy="420624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AUSBLICK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 err="1">
                <a:solidFill>
                  <a:srgbClr val="002D47"/>
                </a:solidFill>
                <a:latin typeface="Aptos"/>
              </a:rPr>
              <a:t>Mehrfachbewertung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durch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unabhängige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Personen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1546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19193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Sensitivitätsanalyse der Gewichte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3798759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5" y="3798759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„Nicht anwendbar“ für relationale Kriterien bei schwachem Inhalt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53542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4562856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Vergleich mit MQA Metrics 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375" y="1627632"/>
            <a:ext cx="12801" cy="420624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27264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7264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7264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 err="1">
                <a:solidFill>
                  <a:srgbClr val="002D47"/>
                </a:solidFill>
                <a:latin typeface="Aptos"/>
              </a:rPr>
              <a:t>Formale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Validierung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als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Vorstufe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gleichrangiger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Indikator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264" y="3181835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3181835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Wirkung erst durch Befund mit Handlungsanweisung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7264" y="3805409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3807349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LLM-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Prüfungen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nur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ohne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deterministischen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Sachverhalt</a:t>
            </a:r>
          </a:p>
        </p:txBody>
      </p:sp>
      <p:sp>
        <p:nvSpPr>
          <p:cNvPr id="35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7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Vielen</a:t>
            </a:r>
            <a:r>
              <a:rPr dirty="0"/>
              <a:t> Dank für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Aufmerksamkeit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Fragen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462272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00FF00"/>
                </a:solidFill>
                <a:latin typeface="Aptos Display"/>
              </a:rPr>
              <a:t>ZENTRALE FORSCHUNGSFRAGE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818888"/>
            <a:ext cx="980236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0" dirty="0">
                <a:solidFill>
                  <a:srgbClr val="FFFFFF"/>
                </a:solidFill>
                <a:latin typeface="Aptos"/>
              </a:rPr>
              <a:t>„Wie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kann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ein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Bewertungsmodell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für die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Qualität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von DCAT-AP.de-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Metadaten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im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GovData-Kontext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entwickelt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werden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, das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formale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Prüfverfahren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mit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ergänzenden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kontext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- und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semantikbezogenen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Qualitätsindikatoren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verbindet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?“</a:t>
            </a:r>
          </a:p>
        </p:txBody>
      </p:sp>
      <p:sp>
        <p:nvSpPr>
          <p:cNvPr id="6" name="Fußzeilenplatzhalter 8">
            <a:extLst>
              <a:ext uri="{FF2B5EF4-FFF2-40B4-BE49-F238E27FC236}">
                <a16:creationId xmlns:a16="http://schemas.microsoft.com/office/drawing/2014/main" id="{43894284-779A-D0E5-10AD-9FE111A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 E I T E N B A U</a:t>
            </a:r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2AB7F94E-8AEB-B845-C72D-D5266504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4">
      <a:dk1>
        <a:srgbClr val="0A0A0A"/>
      </a:dk1>
      <a:lt1>
        <a:srgbClr val="FFFFFF"/>
      </a:lt1>
      <a:dk2>
        <a:srgbClr val="002D47"/>
      </a:dk2>
      <a:lt2>
        <a:srgbClr val="F2F5F6"/>
      </a:lt2>
      <a:accent1>
        <a:srgbClr val="002D47"/>
      </a:accent1>
      <a:accent2>
        <a:srgbClr val="006CB6"/>
      </a:accent2>
      <a:accent3>
        <a:srgbClr val="00FF00"/>
      </a:accent3>
      <a:accent4>
        <a:srgbClr val="19B4EB"/>
      </a:accent4>
      <a:accent5>
        <a:srgbClr val="E40014"/>
      </a:accent5>
      <a:accent6>
        <a:srgbClr val="70818C"/>
      </a:accent6>
      <a:hlink>
        <a:srgbClr val="006CB6"/>
      </a:hlink>
      <a:folHlink>
        <a:srgbClr val="00FF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Microsoft Office PowerPoint</Application>
  <PresentationFormat>Widescreen</PresentationFormat>
  <Paragraphs>393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</vt:lpstr>
      <vt:lpstr>Qualitätsmessung von Metadaten nach DCAT-AP.de Standard</vt:lpstr>
      <vt:lpstr>Ausgangslage</vt:lpstr>
      <vt:lpstr>Forschungsfragen</vt:lpstr>
      <vt:lpstr>Bewertungslücke bestehender Ansätze</vt:lpstr>
      <vt:lpstr>Experteninterviews: zentrale Anforderungen</vt:lpstr>
      <vt:lpstr>Verdichtung der Kandidatendimensionen zu finalen Dimensionen</vt:lpstr>
      <vt:lpstr>Indikatoren: formal, technisch, semantisch</vt:lpstr>
      <vt:lpstr>Vier Prinzipien des Messmodells</vt:lpstr>
      <vt:lpstr>Sprachmodellgestützte Bewertung der</vt:lpstr>
      <vt:lpstr>Verarbeitungspipeline</vt:lpstr>
      <vt:lpstr>Scoring &amp; Gewichtung</vt:lpstr>
      <vt:lpstr>Vom Prüfergebnis zum Befund</vt:lpstr>
      <vt:lpstr>Evaluationsdesign</vt:lpstr>
      <vt:lpstr>Hauptergebnisse im Überblick</vt:lpstr>
      <vt:lpstr>Konvergenz auf Klasse A, Überschätzung auf Klasse B</vt:lpstr>
      <vt:lpstr>Triangulation: wer liegt näher am menschlichen Urteil?</vt:lpstr>
      <vt:lpstr>Grenzfall: Aussagekraft auf den Extremfällen</vt:lpstr>
      <vt:lpstr>Ein Beispiel: Justizblatt-Datensatz</vt:lpstr>
      <vt:lpstr>Kuratiertes Extrembeispiel: „Justizblatt“</vt:lpstr>
      <vt:lpstr>Antworten auf die Teilfragen</vt:lpstr>
      <vt:lpstr>Konzeptionelle Grenze</vt:lpstr>
      <vt:lpstr>Methodische &amp; technische Grenzen</vt:lpstr>
      <vt:lpstr>Drei Befunde über diese Arbeit hinaus</vt:lpstr>
      <vt:lpstr>Beitrag, Ausblick, Praxis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Bürger</dc:creator>
  <cp:lastModifiedBy>Lars Bürger</cp:lastModifiedBy>
  <cp:revision>224</cp:revision>
  <dcterms:created xsi:type="dcterms:W3CDTF">2026-09-11T09:59:01Z</dcterms:created>
  <dcterms:modified xsi:type="dcterms:W3CDTF">2026-09-17T11:57:20Z</dcterms:modified>
</cp:coreProperties>
</file>